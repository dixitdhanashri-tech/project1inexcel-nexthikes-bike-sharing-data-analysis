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drawings/drawing1.xml" ContentType="application/vnd.openxmlformats-officedocument.drawingml.chartshapes+xml"/>
  <Override PartName="/ppt/charts/chart4.xml" ContentType="application/vnd.openxmlformats-officedocument.drawingml.chart+xml"/>
  <Override PartName="/ppt/notesSlides/notesSlide1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8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9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0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63" r:id="rId18"/>
    <p:sldId id="275" r:id="rId19"/>
    <p:sldId id="264" r:id="rId20"/>
    <p:sldId id="26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739" autoAdjust="0"/>
  </p:normalViewPr>
  <p:slideViewPr>
    <p:cSldViewPr>
      <p:cViewPr varScale="1">
        <p:scale>
          <a:sx n="58" d="100"/>
          <a:sy n="58" d="100"/>
        </p:scale>
        <p:origin x="1746" y="4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ASTHA-SAHU\Documents\nexthike%20project1%20-%20done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ASTHA-SAHU\Documents\nexthike%20project1%20-%20done.xlsx" TargetMode="Externa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file:///C:\Users\AASTHA-SAHU\Documents\nexthike%20project1%20-%20done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ASTHA-SAHU\Documents\nexthike%20project1%20-%20done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ASTHA-SAHU\Documents\nexthike%20project1%20-%20done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ASTHA-SAHU\Documents\nexthike%20project1%20-%20done.xlsx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ONY\Desktop\intership\intership%20data%20consolidated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ONY\Desktop\intership\intership%20data%20consolidated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ONY\Desktop\intership\intership%20data%20consolidated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pivotSource>
    <c:name>[nexthike project1 - done.xlsx]Pivot Table_DS1!PivotTable2</c:name>
    <c:fmtId val="7"/>
  </c:pivotSource>
  <c:chart>
    <c:title>
      <c:tx>
        <c:rich>
          <a:bodyPr/>
          <a:lstStyle/>
          <a:p>
            <a:pPr>
              <a:defRPr/>
            </a:pPr>
            <a:r>
              <a:rPr lang="en-IN"/>
              <a:t>Average Temp by Hour</a:t>
            </a:r>
          </a:p>
        </c:rich>
      </c:tx>
      <c:overlay val="0"/>
    </c:title>
    <c:autoTitleDeleted val="0"/>
    <c:pivotFmts>
      <c:pivotFmt>
        <c:idx val="0"/>
      </c:pivotFmt>
      <c:pivotFmt>
        <c:idx val="1"/>
      </c:pivotFmt>
      <c:pivotFmt>
        <c:idx val="2"/>
      </c:pivotFmt>
      <c:pivotFmt>
        <c:idx val="3"/>
      </c:pivotFmt>
      <c:pivotFmt>
        <c:idx val="4"/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'Pivot Table_DS1'!$C$6</c:f>
              <c:strCache>
                <c:ptCount val="1"/>
                <c:pt idx="0">
                  <c:v>Total</c:v>
                </c:pt>
              </c:strCache>
            </c:strRef>
          </c:tx>
          <c:cat>
            <c:strRef>
              <c:f>'Pivot Table_DS1'!$B$7:$B$31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'Pivot Table_DS1'!$C$7:$C$31</c:f>
              <c:numCache>
                <c:formatCode>0.000</c:formatCode>
                <c:ptCount val="24"/>
                <c:pt idx="0">
                  <c:v>0.18076923076923082</c:v>
                </c:pt>
                <c:pt idx="1">
                  <c:v>0.17461538461538467</c:v>
                </c:pt>
                <c:pt idx="2">
                  <c:v>0.17500000000000004</c:v>
                </c:pt>
                <c:pt idx="3">
                  <c:v>0.16750000000000001</c:v>
                </c:pt>
                <c:pt idx="4">
                  <c:v>0.17900000000000005</c:v>
                </c:pt>
                <c:pt idx="5">
                  <c:v>0.16083333333333341</c:v>
                </c:pt>
                <c:pt idx="6">
                  <c:v>0.16076923076923083</c:v>
                </c:pt>
                <c:pt idx="7">
                  <c:v>0.15923076923076929</c:v>
                </c:pt>
                <c:pt idx="8">
                  <c:v>0.16538461538461544</c:v>
                </c:pt>
                <c:pt idx="9">
                  <c:v>0.18000000000000002</c:v>
                </c:pt>
                <c:pt idx="10">
                  <c:v>0.19538461538461535</c:v>
                </c:pt>
                <c:pt idx="11">
                  <c:v>0.20923076923076925</c:v>
                </c:pt>
                <c:pt idx="12">
                  <c:v>0.22222222222222221</c:v>
                </c:pt>
                <c:pt idx="13">
                  <c:v>0.23407407407407407</c:v>
                </c:pt>
                <c:pt idx="14">
                  <c:v>0.24444444444444444</c:v>
                </c:pt>
                <c:pt idx="15">
                  <c:v>0.24518518518518528</c:v>
                </c:pt>
                <c:pt idx="16">
                  <c:v>0.24222222222222226</c:v>
                </c:pt>
                <c:pt idx="17">
                  <c:v>0.22814814814814816</c:v>
                </c:pt>
                <c:pt idx="18">
                  <c:v>0.21769230769230774</c:v>
                </c:pt>
                <c:pt idx="19">
                  <c:v>0.20461538461538467</c:v>
                </c:pt>
                <c:pt idx="20">
                  <c:v>0.19615384615384615</c:v>
                </c:pt>
                <c:pt idx="21">
                  <c:v>0.18923076923076923</c:v>
                </c:pt>
                <c:pt idx="22">
                  <c:v>0.18230769230769228</c:v>
                </c:pt>
                <c:pt idx="23">
                  <c:v>0.18230769230769228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50A-44B7-9BAD-ECF7CAC1B5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4622464"/>
        <c:axId val="177054464"/>
      </c:lineChart>
      <c:catAx>
        <c:axId val="20462246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IN" dirty="0"/>
                  <a:t>Hour</a:t>
                </a:r>
              </a:p>
            </c:rich>
          </c:tx>
          <c:layout>
            <c:manualLayout>
              <c:xMode val="edge"/>
              <c:yMode val="edge"/>
              <c:x val="0.48024676555504814"/>
              <c:y val="0.88633031645410942"/>
            </c:manualLayout>
          </c:layout>
          <c:overlay val="0"/>
        </c:title>
        <c:numFmt formatCode="General" sourceLinked="0"/>
        <c:majorTickMark val="none"/>
        <c:minorTickMark val="none"/>
        <c:tickLblPos val="nextTo"/>
        <c:crossAx val="177054464"/>
        <c:crosses val="autoZero"/>
        <c:auto val="1"/>
        <c:lblAlgn val="ctr"/>
        <c:lblOffset val="100"/>
        <c:noMultiLvlLbl val="0"/>
      </c:catAx>
      <c:valAx>
        <c:axId val="177054464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IN" sz="1000" b="1" i="0" u="none" strike="noStrike" baseline="0" dirty="0"/>
                  <a:t>Average Temperature</a:t>
                </a:r>
                <a:endParaRPr lang="en-IN" dirty="0"/>
              </a:p>
            </c:rich>
          </c:tx>
          <c:layout>
            <c:manualLayout>
              <c:xMode val="edge"/>
              <c:yMode val="edge"/>
              <c:x val="2.123335963817782E-2"/>
              <c:y val="0.2723202456188395"/>
            </c:manualLayout>
          </c:layout>
          <c:overlay val="0"/>
        </c:title>
        <c:numFmt formatCode="0.000" sourceLinked="1"/>
        <c:majorTickMark val="none"/>
        <c:minorTickMark val="none"/>
        <c:tickLblPos val="nextTo"/>
        <c:crossAx val="204622464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[nexthike project1 - done.xlsx]Pivot Table_DS1!PivotTable3</c:name>
    <c:fmtId val="5"/>
  </c:pivotSource>
  <c:chart>
    <c:title>
      <c:tx>
        <c:rich>
          <a:bodyPr/>
          <a:lstStyle/>
          <a:p>
            <a:pPr>
              <a:defRPr/>
            </a:pPr>
            <a:r>
              <a:rPr lang="en-IN"/>
              <a:t>Average</a:t>
            </a:r>
            <a:r>
              <a:rPr lang="en-IN" baseline="0"/>
              <a:t> Temp by Weathersit</a:t>
            </a:r>
            <a:endParaRPr lang="en-IN"/>
          </a:p>
        </c:rich>
      </c:tx>
      <c:overlay val="0"/>
    </c:title>
    <c:autoTitleDeleted val="0"/>
    <c:pivotFmts>
      <c:pivotFmt>
        <c:idx val="0"/>
        <c:marker>
          <c:symbol val="none"/>
        </c:marker>
      </c:pivotFmt>
      <c:pivotFmt>
        <c:idx val="1"/>
        <c:marker>
          <c:symbol val="none"/>
        </c:marker>
      </c:pivotFmt>
      <c:pivotFmt>
        <c:idx val="2"/>
        <c:marker>
          <c:symbol val="none"/>
        </c:marker>
      </c:pivotFmt>
      <c:pivotFmt>
        <c:idx val="3"/>
        <c:marker>
          <c:symbol val="none"/>
        </c:marker>
      </c:pivotFmt>
      <c:pivotFmt>
        <c:idx val="4"/>
        <c:marker>
          <c:symbol val="none"/>
        </c:marker>
      </c:pivotFmt>
    </c:pivotFmts>
    <c:plotArea>
      <c:layout>
        <c:manualLayout>
          <c:layoutTarget val="inner"/>
          <c:xMode val="edge"/>
          <c:yMode val="edge"/>
          <c:x val="0.19171632444879863"/>
          <c:y val="0.24132662922626993"/>
          <c:w val="0.78904338911838079"/>
          <c:h val="0.5736721695258774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'Pivot Table_DS1'!$F$6</c:f>
              <c:strCache>
                <c:ptCount val="1"/>
                <c:pt idx="0">
                  <c:v>Total</c:v>
                </c:pt>
              </c:strCache>
            </c:strRef>
          </c:tx>
          <c:invertIfNegative val="0"/>
          <c:cat>
            <c:strRef>
              <c:f>'Pivot Table_DS1'!$E$7:$E$11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'Pivot Table_DS1'!$F$7:$F$11</c:f>
              <c:numCache>
                <c:formatCode>0.000</c:formatCode>
                <c:ptCount val="4"/>
                <c:pt idx="0">
                  <c:v>0.1806521739130435</c:v>
                </c:pt>
                <c:pt idx="1">
                  <c:v>0.22164948453608221</c:v>
                </c:pt>
                <c:pt idx="2">
                  <c:v>0.22127659574468087</c:v>
                </c:pt>
                <c:pt idx="3">
                  <c:v>0.22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11-45FA-B18E-075C2F1C35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4652928"/>
        <c:axId val="204654848"/>
      </c:barChart>
      <c:catAx>
        <c:axId val="20465292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IN" dirty="0"/>
                  <a:t>Weather</a:t>
                </a:r>
                <a:r>
                  <a:rPr lang="en-IN" baseline="0" dirty="0"/>
                  <a:t> situation</a:t>
                </a:r>
                <a:endParaRPr lang="en-IN" dirty="0"/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crossAx val="204654848"/>
        <c:crosses val="autoZero"/>
        <c:auto val="1"/>
        <c:lblAlgn val="ctr"/>
        <c:lblOffset val="100"/>
        <c:noMultiLvlLbl val="0"/>
      </c:catAx>
      <c:valAx>
        <c:axId val="204654848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IN" dirty="0"/>
                  <a:t>Average</a:t>
                </a:r>
                <a:r>
                  <a:rPr lang="en-IN" baseline="0" dirty="0"/>
                  <a:t>  Temperature</a:t>
                </a:r>
                <a:endParaRPr lang="en-IN" dirty="0"/>
              </a:p>
            </c:rich>
          </c:tx>
          <c:layout>
            <c:manualLayout>
              <c:xMode val="edge"/>
              <c:yMode val="edge"/>
              <c:x val="9.6201432164102971E-3"/>
              <c:y val="0.17823853711494586"/>
            </c:manualLayout>
          </c:layout>
          <c:overlay val="0"/>
        </c:title>
        <c:numFmt formatCode="0.000" sourceLinked="1"/>
        <c:majorTickMark val="out"/>
        <c:minorTickMark val="none"/>
        <c:tickLblPos val="nextTo"/>
        <c:crossAx val="204652928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0"/>
    </mc:Choice>
    <mc:Fallback>
      <c:style val="10"/>
    </mc:Fallback>
  </mc:AlternateContent>
  <c:pivotSource>
    <c:name>[nexthike project1 - done.xlsx]Pivot Table_DS2!PivotTable6</c:name>
    <c:fmtId val="6"/>
  </c:pivotSource>
  <c:chart>
    <c:title>
      <c:tx>
        <c:rich>
          <a:bodyPr/>
          <a:lstStyle/>
          <a:p>
            <a:pPr>
              <a:defRPr/>
            </a:pPr>
            <a:r>
              <a:rPr lang="en-IN"/>
              <a:t>Average</a:t>
            </a:r>
            <a:r>
              <a:rPr lang="en-IN" baseline="0"/>
              <a:t> </a:t>
            </a:r>
            <a:r>
              <a:rPr lang="en-IN"/>
              <a:t>Bike Rentals by Feeling Temperature</a:t>
            </a:r>
          </a:p>
          <a:p>
            <a:pPr>
              <a:defRPr/>
            </a:pPr>
            <a:endParaRPr lang="en-US"/>
          </a:p>
        </c:rich>
      </c:tx>
      <c:overlay val="0"/>
    </c:title>
    <c:autoTitleDeleted val="0"/>
    <c:pivotFmts>
      <c:pivotFmt>
        <c:idx val="0"/>
      </c:pivotFmt>
      <c:pivotFmt>
        <c:idx val="1"/>
      </c:pivotFmt>
      <c:pivotFmt>
        <c:idx val="2"/>
      </c:pivotFmt>
      <c:pivotFmt>
        <c:idx val="3"/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'Pivot Table_DS2'!$C$7</c:f>
              <c:strCache>
                <c:ptCount val="1"/>
                <c:pt idx="0">
                  <c:v>Total</c:v>
                </c:pt>
              </c:strCache>
            </c:strRef>
          </c:tx>
          <c:cat>
            <c:strRef>
              <c:f>'Pivot Table_DS2'!$B$8:$B$18</c:f>
              <c:strCache>
                <c:ptCount val="10"/>
                <c:pt idx="0">
                  <c:v>0-0.05</c:v>
                </c:pt>
                <c:pt idx="1">
                  <c:v>0.05-0.1</c:v>
                </c:pt>
                <c:pt idx="2">
                  <c:v>0.1-0.15</c:v>
                </c:pt>
                <c:pt idx="3">
                  <c:v>0.15-0.2</c:v>
                </c:pt>
                <c:pt idx="4">
                  <c:v>0.2-0.25</c:v>
                </c:pt>
                <c:pt idx="5">
                  <c:v>0.25-0.3</c:v>
                </c:pt>
                <c:pt idx="6">
                  <c:v>0.3-0.35</c:v>
                </c:pt>
                <c:pt idx="7">
                  <c:v>0.35-0.4</c:v>
                </c:pt>
                <c:pt idx="8">
                  <c:v>0.4-0.45</c:v>
                </c:pt>
                <c:pt idx="9">
                  <c:v>0.45-0.5</c:v>
                </c:pt>
              </c:strCache>
            </c:strRef>
          </c:cat>
          <c:val>
            <c:numRef>
              <c:f>'Pivot Table_DS2'!$C$8:$C$18</c:f>
              <c:numCache>
                <c:formatCode>0.000</c:formatCode>
                <c:ptCount val="10"/>
                <c:pt idx="0">
                  <c:v>14.307692307692308</c:v>
                </c:pt>
                <c:pt idx="1">
                  <c:v>20</c:v>
                </c:pt>
                <c:pt idx="2">
                  <c:v>52.494845360824741</c:v>
                </c:pt>
                <c:pt idx="3">
                  <c:v>53.030456852791879</c:v>
                </c:pt>
                <c:pt idx="4">
                  <c:v>61.964028776978417</c:v>
                </c:pt>
                <c:pt idx="5">
                  <c:v>62.16</c:v>
                </c:pt>
                <c:pt idx="6">
                  <c:v>90.457142857142856</c:v>
                </c:pt>
                <c:pt idx="7">
                  <c:v>70</c:v>
                </c:pt>
                <c:pt idx="8">
                  <c:v>45.5625</c:v>
                </c:pt>
                <c:pt idx="9">
                  <c:v>55.75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7BD-4545-9614-154B8FADEE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4318080"/>
        <c:axId val="44324352"/>
      </c:lineChart>
      <c:catAx>
        <c:axId val="4431808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50"/>
                </a:pPr>
                <a:r>
                  <a:rPr lang="en-IN" sz="1050"/>
                  <a:t>Feeling Temperature (Atemp)</a:t>
                </a:r>
              </a:p>
            </c:rich>
          </c:tx>
          <c:layout>
            <c:manualLayout>
              <c:xMode val="edge"/>
              <c:yMode val="edge"/>
              <c:x val="0.27807273550802047"/>
              <c:y val="0.89599837909747915"/>
            </c:manualLayout>
          </c:layout>
          <c:overlay val="0"/>
        </c:title>
        <c:numFmt formatCode="General" sourceLinked="0"/>
        <c:majorTickMark val="out"/>
        <c:minorTickMark val="none"/>
        <c:tickLblPos val="nextTo"/>
        <c:crossAx val="44324352"/>
        <c:crosses val="autoZero"/>
        <c:auto val="1"/>
        <c:lblAlgn val="ctr"/>
        <c:lblOffset val="100"/>
        <c:noMultiLvlLbl val="0"/>
      </c:catAx>
      <c:valAx>
        <c:axId val="44324352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IN"/>
                  <a:t>Average Bike Rentals (Count)</a:t>
                </a:r>
              </a:p>
            </c:rich>
          </c:tx>
          <c:layout>
            <c:manualLayout>
              <c:xMode val="edge"/>
              <c:yMode val="edge"/>
              <c:x val="1.1837121212121212E-2"/>
              <c:y val="0.32051053142166752"/>
            </c:manualLayout>
          </c:layout>
          <c:overlay val="0"/>
        </c:title>
        <c:numFmt formatCode="0.000" sourceLinked="1"/>
        <c:majorTickMark val="out"/>
        <c:minorTickMark val="none"/>
        <c:tickLblPos val="nextTo"/>
        <c:crossAx val="44318080"/>
        <c:crosses val="autoZero"/>
        <c:crossBetween val="between"/>
      </c:valAx>
    </c:plotArea>
    <c:plotVisOnly val="1"/>
    <c:dispBlanksAs val="zero"/>
    <c:showDLblsOverMax val="0"/>
  </c:chart>
  <c:externalData r:id="rId1">
    <c:autoUpdate val="0"/>
  </c:externalData>
  <c:userShapes r:id="rId2"/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[nexthike project1 - done.xlsx]Pivot Table_DS2!PivotTable10</c:name>
    <c:fmtId val="10"/>
  </c:pivotSource>
  <c:chart>
    <c:title>
      <c:tx>
        <c:rich>
          <a:bodyPr/>
          <a:lstStyle/>
          <a:p>
            <a:pPr>
              <a:defRPr/>
            </a:pPr>
            <a:r>
              <a:rPr lang="en-IN" sz="1800" b="1" i="0" u="none" strike="noStrike" baseline="0" dirty="0"/>
              <a:t>Total Casual </a:t>
            </a:r>
            <a:r>
              <a:rPr lang="en-IN" sz="1800" b="1" i="0" u="none" strike="noStrike" baseline="0" dirty="0" err="1"/>
              <a:t>vs</a:t>
            </a:r>
            <a:r>
              <a:rPr lang="en-IN" sz="1800" b="1" i="0" u="none" strike="noStrike" baseline="0" dirty="0"/>
              <a:t> Registered Bike Rentals</a:t>
            </a:r>
            <a:endParaRPr lang="en-IN" dirty="0"/>
          </a:p>
        </c:rich>
      </c:tx>
      <c:layout>
        <c:manualLayout>
          <c:xMode val="edge"/>
          <c:yMode val="edge"/>
          <c:x val="0.1466286452042963"/>
          <c:y val="2.4401528485139077E-3"/>
        </c:manualLayout>
      </c:layout>
      <c:overlay val="1"/>
    </c:title>
    <c:autoTitleDeleted val="0"/>
    <c:pivotFmts>
      <c:pivotFmt>
        <c:idx val="0"/>
        <c:marker>
          <c:symbol val="none"/>
        </c:marker>
      </c:pivotFmt>
      <c:pivotFmt>
        <c:idx val="1"/>
        <c:marker>
          <c:symbol val="none"/>
        </c:marker>
      </c:pivotFmt>
      <c:pivotFmt>
        <c:idx val="2"/>
        <c:marker>
          <c:symbol val="none"/>
        </c:marker>
      </c:pivotFmt>
      <c:pivotFmt>
        <c:idx val="3"/>
        <c:marker>
          <c:symbol val="none"/>
        </c:marker>
      </c:pivotFmt>
      <c:pivotFmt>
        <c:idx val="4"/>
        <c:marker>
          <c:symbol val="none"/>
        </c:marker>
      </c:pivotFmt>
      <c:pivotFmt>
        <c:idx val="5"/>
        <c:marker>
          <c:symbol val="none"/>
        </c:marker>
      </c:pivotFmt>
      <c:pivotFmt>
        <c:idx val="6"/>
        <c:marker>
          <c:symbol val="none"/>
        </c:marker>
      </c:pivotFmt>
      <c:pivotFmt>
        <c:idx val="7"/>
        <c:marker>
          <c:symbol val="none"/>
        </c:marker>
      </c:pivotFmt>
      <c:pivotFmt>
        <c:idx val="8"/>
        <c:marker>
          <c:symbol val="none"/>
        </c:marker>
      </c:pivotFmt>
      <c:pivotFmt>
        <c:idx val="9"/>
        <c:marker>
          <c:symbol val="none"/>
        </c:marker>
      </c:pivotFmt>
    </c:pivotFmts>
    <c:plotArea>
      <c:layout>
        <c:manualLayout>
          <c:layoutTarget val="inner"/>
          <c:xMode val="edge"/>
          <c:yMode val="edge"/>
          <c:x val="0.10242763874571389"/>
          <c:y val="0.21044861862146749"/>
          <c:w val="0.66956660013598579"/>
          <c:h val="0.7057105060662597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'Pivot Table_DS2'!$K$7</c:f>
              <c:strCache>
                <c:ptCount val="1"/>
                <c:pt idx="0">
                  <c:v>Sum of Registered</c:v>
                </c:pt>
              </c:strCache>
            </c:strRef>
          </c:tx>
          <c:invertIfNegative val="0"/>
          <c:cat>
            <c:strRef>
              <c:f>'Pivot Table_DS2'!$K$8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'Pivot Table_DS2'!$K$8</c:f>
              <c:numCache>
                <c:formatCode>General</c:formatCode>
                <c:ptCount val="1"/>
                <c:pt idx="0">
                  <c:v>31152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6E-4102-BD47-C6DC9386C240}"/>
            </c:ext>
          </c:extLst>
        </c:ser>
        <c:ser>
          <c:idx val="1"/>
          <c:order val="1"/>
          <c:tx>
            <c:strRef>
              <c:f>'Pivot Table_DS2'!$L$7</c:f>
              <c:strCache>
                <c:ptCount val="1"/>
                <c:pt idx="0">
                  <c:v>Sum of Casual</c:v>
                </c:pt>
              </c:strCache>
            </c:strRef>
          </c:tx>
          <c:invertIfNegative val="0"/>
          <c:cat>
            <c:strRef>
              <c:f>'Pivot Table_DS2'!$K$8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'Pivot Table_DS2'!$L$8</c:f>
              <c:numCache>
                <c:formatCode>General</c:formatCode>
                <c:ptCount val="1"/>
                <c:pt idx="0">
                  <c:v>2746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66E-4102-BD47-C6DC9386C2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4341888"/>
        <c:axId val="218628480"/>
      </c:barChart>
      <c:catAx>
        <c:axId val="4434188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8628480"/>
        <c:crosses val="autoZero"/>
        <c:auto val="1"/>
        <c:lblAlgn val="ctr"/>
        <c:lblOffset val="100"/>
        <c:noMultiLvlLbl val="0"/>
      </c:catAx>
      <c:valAx>
        <c:axId val="21862848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4434188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84395338465700143"/>
          <c:y val="0.27448824168063324"/>
          <c:w val="0.14211903874132725"/>
          <c:h val="0.34319061020986835"/>
        </c:manualLayout>
      </c:layout>
      <c:overlay val="0"/>
    </c:legend>
    <c:plotVisOnly val="1"/>
    <c:dispBlanksAs val="gap"/>
    <c:showDLblsOverMax val="0"/>
  </c:chart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22"/>
    </mc:Choice>
    <mc:Fallback>
      <c:style val="22"/>
    </mc:Fallback>
  </mc:AlternateContent>
  <c:pivotSource>
    <c:name>[nexthike project1 - done.xlsx]Pivot Table_DS2!PivotTable9</c:name>
    <c:fmtId val="5"/>
  </c:pivotSource>
  <c:chart>
    <c:title>
      <c:tx>
        <c:rich>
          <a:bodyPr/>
          <a:lstStyle/>
          <a:p>
            <a:pPr>
              <a:defRPr/>
            </a:pPr>
            <a:r>
              <a:rPr lang="en-IN" sz="1800" b="1" i="0" u="none" strike="noStrike" baseline="0"/>
              <a:t>Average Bike Rentals by Windspeed</a:t>
            </a:r>
            <a:endParaRPr lang="en-US"/>
          </a:p>
        </c:rich>
      </c:tx>
      <c:overlay val="0"/>
    </c:title>
    <c:autoTitleDeleted val="0"/>
    <c:pivotFmts>
      <c:pivotFmt>
        <c:idx val="0"/>
      </c:pivotFmt>
      <c:pivotFmt>
        <c:idx val="1"/>
      </c:pivotFmt>
      <c:pivotFmt>
        <c:idx val="2"/>
      </c:pivotFmt>
      <c:pivotFmt>
        <c:idx val="3"/>
      </c:pivotFmt>
      <c:pivotFmt>
        <c:idx val="4"/>
      </c:pivotFmt>
    </c:pivotFmts>
    <c:plotArea>
      <c:layout/>
      <c:lineChart>
        <c:grouping val="stacked"/>
        <c:varyColors val="0"/>
        <c:ser>
          <c:idx val="0"/>
          <c:order val="0"/>
          <c:tx>
            <c:strRef>
              <c:f>'Pivot Table_DS2'!$I$7</c:f>
              <c:strCache>
                <c:ptCount val="1"/>
                <c:pt idx="0">
                  <c:v>Total</c:v>
                </c:pt>
              </c:strCache>
            </c:strRef>
          </c:tx>
          <c:cat>
            <c:strRef>
              <c:f>'Pivot Table_DS2'!$H$8:$H$20</c:f>
              <c:strCache>
                <c:ptCount val="12"/>
                <c:pt idx="0">
                  <c:v>0-0.05</c:v>
                </c:pt>
                <c:pt idx="1">
                  <c:v>0.05-0.1</c:v>
                </c:pt>
                <c:pt idx="2">
                  <c:v>0.1-0.15</c:v>
                </c:pt>
                <c:pt idx="3">
                  <c:v>0.15-0.2</c:v>
                </c:pt>
                <c:pt idx="4">
                  <c:v>0.2-0.25</c:v>
                </c:pt>
                <c:pt idx="5">
                  <c:v>0.25-0.3</c:v>
                </c:pt>
                <c:pt idx="6">
                  <c:v>0.3-0.35</c:v>
                </c:pt>
                <c:pt idx="7">
                  <c:v>0.35-0.4</c:v>
                </c:pt>
                <c:pt idx="8">
                  <c:v>0.4-0.45</c:v>
                </c:pt>
                <c:pt idx="9">
                  <c:v>0.45-0.5</c:v>
                </c:pt>
                <c:pt idx="10">
                  <c:v>0.5-0.55</c:v>
                </c:pt>
                <c:pt idx="11">
                  <c:v>0.55-0.6</c:v>
                </c:pt>
              </c:strCache>
            </c:strRef>
          </c:cat>
          <c:val>
            <c:numRef>
              <c:f>'Pivot Table_DS2'!$I$8:$I$20</c:f>
              <c:numCache>
                <c:formatCode>0.000</c:formatCode>
                <c:ptCount val="12"/>
                <c:pt idx="0">
                  <c:v>54.903225806451616</c:v>
                </c:pt>
                <c:pt idx="1">
                  <c:v>55.06666666666667</c:v>
                </c:pt>
                <c:pt idx="2">
                  <c:v>49</c:v>
                </c:pt>
                <c:pt idx="3">
                  <c:v>53.747899159663866</c:v>
                </c:pt>
                <c:pt idx="4">
                  <c:v>56.533333333333331</c:v>
                </c:pt>
                <c:pt idx="5">
                  <c:v>58.44</c:v>
                </c:pt>
                <c:pt idx="6">
                  <c:v>68.735294117647058</c:v>
                </c:pt>
                <c:pt idx="7">
                  <c:v>58.861111111111114</c:v>
                </c:pt>
                <c:pt idx="8">
                  <c:v>51.31818181818182</c:v>
                </c:pt>
                <c:pt idx="9">
                  <c:v>55.444444444444443</c:v>
                </c:pt>
                <c:pt idx="10">
                  <c:v>66.75</c:v>
                </c:pt>
                <c:pt idx="11">
                  <c:v>68.75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F14-48E7-8825-0E1E82D1F5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8654208"/>
        <c:axId val="218656128"/>
      </c:lineChart>
      <c:catAx>
        <c:axId val="21865420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IN" sz="1050"/>
                  <a:t>Windspeed</a:t>
                </a:r>
              </a:p>
            </c:rich>
          </c:tx>
          <c:layout>
            <c:manualLayout>
              <c:xMode val="edge"/>
              <c:yMode val="edge"/>
              <c:x val="0.37683693747289726"/>
              <c:y val="0.87808748374363632"/>
            </c:manualLayout>
          </c:layout>
          <c:overlay val="0"/>
        </c:title>
        <c:numFmt formatCode="General" sourceLinked="0"/>
        <c:majorTickMark val="out"/>
        <c:minorTickMark val="none"/>
        <c:tickLblPos val="nextTo"/>
        <c:crossAx val="218656128"/>
        <c:crosses val="autoZero"/>
        <c:auto val="1"/>
        <c:lblAlgn val="ctr"/>
        <c:lblOffset val="100"/>
        <c:noMultiLvlLbl val="0"/>
      </c:catAx>
      <c:valAx>
        <c:axId val="218656128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IN" sz="1000" b="1" i="0" u="none" strike="noStrike" baseline="0">
                    <a:effectLst/>
                  </a:rPr>
                  <a:t>Average Bike Rentals (Count)</a:t>
                </a:r>
                <a:endParaRPr lang="en-IN"/>
              </a:p>
            </c:rich>
          </c:tx>
          <c:layout>
            <c:manualLayout>
              <c:xMode val="edge"/>
              <c:yMode val="edge"/>
              <c:x val="6.3760836609552335E-3"/>
              <c:y val="0.12454866125986001"/>
            </c:manualLayout>
          </c:layout>
          <c:overlay val="0"/>
        </c:title>
        <c:numFmt formatCode="0.000" sourceLinked="1"/>
        <c:majorTickMark val="out"/>
        <c:minorTickMark val="none"/>
        <c:tickLblPos val="nextTo"/>
        <c:crossAx val="218654208"/>
        <c:crosses val="autoZero"/>
        <c:crossBetween val="between"/>
      </c:valAx>
    </c:plotArea>
    <c:plotVisOnly val="1"/>
    <c:dispBlanksAs val="zero"/>
    <c:showDLblsOverMax val="0"/>
  </c:chart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2"/>
    </mc:Choice>
    <mc:Fallback>
      <c:style val="12"/>
    </mc:Fallback>
  </mc:AlternateContent>
  <c:pivotSource>
    <c:name>[nexthike project1 - done.xlsx]Pivot Table_DS2!PivotTable8</c:name>
    <c:fmtId val="5"/>
  </c:pivotSource>
  <c:chart>
    <c:title>
      <c:tx>
        <c:rich>
          <a:bodyPr/>
          <a:lstStyle/>
          <a:p>
            <a:pPr>
              <a:defRPr/>
            </a:pPr>
            <a:r>
              <a:rPr lang="en-IN"/>
              <a:t>Average Bike Rentals by Humidity</a:t>
            </a:r>
            <a:endParaRPr lang="en-US"/>
          </a:p>
        </c:rich>
      </c:tx>
      <c:overlay val="0"/>
    </c:title>
    <c:autoTitleDeleted val="0"/>
    <c:pivotFmts>
      <c:pivotFmt>
        <c:idx val="0"/>
      </c:pivotFmt>
      <c:pivotFmt>
        <c:idx val="1"/>
      </c:pivotFmt>
      <c:pivotFmt>
        <c:idx val="2"/>
      </c:pivotFmt>
      <c:pivotFmt>
        <c:idx val="3"/>
      </c:pivotFmt>
      <c:pivotFmt>
        <c:idx val="4"/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'Pivot Table_DS2'!$F$7</c:f>
              <c:strCache>
                <c:ptCount val="1"/>
                <c:pt idx="0">
                  <c:v>Total</c:v>
                </c:pt>
              </c:strCache>
            </c:strRef>
          </c:tx>
          <c:cat>
            <c:strRef>
              <c:f>'Pivot Table_DS2'!$E$8:$E$16</c:f>
              <c:strCache>
                <c:ptCount val="8"/>
                <c:pt idx="0">
                  <c:v>0.2-0.3</c:v>
                </c:pt>
                <c:pt idx="1">
                  <c:v>0.3-0.4</c:v>
                </c:pt>
                <c:pt idx="2">
                  <c:v>0.4-0.5</c:v>
                </c:pt>
                <c:pt idx="3">
                  <c:v>0.5-0.6</c:v>
                </c:pt>
                <c:pt idx="4">
                  <c:v>0.6-0.7</c:v>
                </c:pt>
                <c:pt idx="5">
                  <c:v>0.7-0.8</c:v>
                </c:pt>
                <c:pt idx="6">
                  <c:v>0.8-0.9</c:v>
                </c:pt>
                <c:pt idx="7">
                  <c:v>0.9-1</c:v>
                </c:pt>
              </c:strCache>
            </c:strRef>
          </c:cat>
          <c:val>
            <c:numRef>
              <c:f>'Pivot Table_DS2'!$F$8:$F$16</c:f>
              <c:numCache>
                <c:formatCode>0.000</c:formatCode>
                <c:ptCount val="8"/>
                <c:pt idx="0">
                  <c:v>81.470588235294116</c:v>
                </c:pt>
                <c:pt idx="1">
                  <c:v>78.36363636363636</c:v>
                </c:pt>
                <c:pt idx="2">
                  <c:v>61.138364779874216</c:v>
                </c:pt>
                <c:pt idx="3">
                  <c:v>54.012738853503187</c:v>
                </c:pt>
                <c:pt idx="4">
                  <c:v>45.238805970149251</c:v>
                </c:pt>
                <c:pt idx="5">
                  <c:v>37.174999999999997</c:v>
                </c:pt>
                <c:pt idx="6">
                  <c:v>44.018181818181816</c:v>
                </c:pt>
                <c:pt idx="7">
                  <c:v>35.236842105263158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253-4877-B542-01333FB005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8680704"/>
        <c:axId val="218686976"/>
      </c:lineChart>
      <c:catAx>
        <c:axId val="21868070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50"/>
                </a:pPr>
                <a:r>
                  <a:rPr lang="en-IN" sz="1050"/>
                  <a:t>Humidity</a:t>
                </a:r>
              </a:p>
            </c:rich>
          </c:tx>
          <c:layout>
            <c:manualLayout>
              <c:xMode val="edge"/>
              <c:yMode val="edge"/>
              <c:x val="0.41279689899458172"/>
              <c:y val="0.88095132286888755"/>
            </c:manualLayout>
          </c:layout>
          <c:overlay val="0"/>
        </c:title>
        <c:numFmt formatCode="General" sourceLinked="0"/>
        <c:majorTickMark val="out"/>
        <c:minorTickMark val="none"/>
        <c:tickLblPos val="nextTo"/>
        <c:crossAx val="218686976"/>
        <c:crosses val="autoZero"/>
        <c:auto val="1"/>
        <c:lblAlgn val="ctr"/>
        <c:lblOffset val="100"/>
        <c:noMultiLvlLbl val="0"/>
      </c:catAx>
      <c:valAx>
        <c:axId val="218686976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IN" sz="1000" b="1" i="0" u="none" strike="noStrike" baseline="0">
                    <a:effectLst/>
                  </a:rPr>
                  <a:t>Average Bike Rentals (Count) </a:t>
                </a:r>
                <a:endParaRPr lang="en-IN"/>
              </a:p>
            </c:rich>
          </c:tx>
          <c:layout>
            <c:manualLayout>
              <c:xMode val="edge"/>
              <c:yMode val="edge"/>
              <c:x val="6.3461141453944906E-3"/>
              <c:y val="0.2048256542923802"/>
            </c:manualLayout>
          </c:layout>
          <c:overlay val="0"/>
        </c:title>
        <c:numFmt formatCode="0.000" sourceLinked="1"/>
        <c:majorTickMark val="out"/>
        <c:minorTickMark val="none"/>
        <c:tickLblPos val="nextTo"/>
        <c:crossAx val="218680704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[intership data consolidated.xlsx]PivotTableCleanDataset3!PivotTable1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Hourlywise Average Bike Rental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2225" cap="rnd">
            <a:solidFill>
              <a:schemeClr val="accent1"/>
            </a:solidFill>
            <a:round/>
          </a:ln>
          <a:effectLst/>
        </c:spPr>
        <c:marker>
          <c:symbol val="diamond"/>
          <c:size val="6"/>
          <c:spPr>
            <a:solidFill>
              <a:schemeClr val="accent1"/>
            </a:solidFill>
            <a:ln w="9525">
              <a:solidFill>
                <a:schemeClr val="accen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2225" cap="rnd">
            <a:solidFill>
              <a:schemeClr val="accent1"/>
            </a:solidFill>
            <a:round/>
          </a:ln>
          <a:effectLst/>
        </c:spPr>
        <c:marker>
          <c:symbol val="diamond"/>
          <c:size val="6"/>
          <c:spPr>
            <a:solidFill>
              <a:schemeClr val="accent1"/>
            </a:solidFill>
            <a:ln w="9525">
              <a:solidFill>
                <a:schemeClr val="accen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2225" cap="rnd">
            <a:solidFill>
              <a:schemeClr val="accent1"/>
            </a:solidFill>
            <a:round/>
          </a:ln>
          <a:effectLst/>
        </c:spPr>
        <c:marker>
          <c:symbol val="diamond"/>
          <c:size val="6"/>
          <c:spPr>
            <a:solidFill>
              <a:schemeClr val="accent1"/>
            </a:solidFill>
            <a:ln w="9525">
              <a:solidFill>
                <a:schemeClr val="accen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PivotTableCleanDataset3!$D$8</c:f>
              <c:strCache>
                <c:ptCount val="1"/>
                <c:pt idx="0">
                  <c:v>Total</c:v>
                </c:pt>
              </c:strCache>
            </c:strRef>
          </c:tx>
          <c:spPr>
            <a:ln w="22225" cap="rnd">
              <a:solidFill>
                <a:schemeClr val="accent1"/>
              </a:solidFill>
              <a:round/>
            </a:ln>
            <a:effectLst/>
          </c:spPr>
          <c:marker>
            <c:symbol val="diamond"/>
            <c:size val="6"/>
            <c:spPr>
              <a:solidFill>
                <a:schemeClr val="accent1"/>
              </a:solidFill>
              <a:ln w="9525">
                <a:solidFill>
                  <a:schemeClr val="accent1"/>
                </a:solidFill>
                <a:round/>
              </a:ln>
              <a:effectLst/>
            </c:spPr>
          </c:marker>
          <c:cat>
            <c:strRef>
              <c:f>PivotTableCleanDataset3!$C$9:$C$33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PivotTableCleanDataset3!$D$9:$D$33</c:f>
              <c:numCache>
                <c:formatCode>0.00</c:formatCode>
                <c:ptCount val="24"/>
                <c:pt idx="0">
                  <c:v>19.588235294117649</c:v>
                </c:pt>
                <c:pt idx="1">
                  <c:v>13</c:v>
                </c:pt>
                <c:pt idx="2">
                  <c:v>7.2941176470588234</c:v>
                </c:pt>
                <c:pt idx="3">
                  <c:v>5</c:v>
                </c:pt>
                <c:pt idx="4">
                  <c:v>2.5833333333333335</c:v>
                </c:pt>
                <c:pt idx="5">
                  <c:v>4.5999999999999996</c:v>
                </c:pt>
                <c:pt idx="6">
                  <c:v>21.625</c:v>
                </c:pt>
                <c:pt idx="7">
                  <c:v>55.647058823529413</c:v>
                </c:pt>
                <c:pt idx="8">
                  <c:v>129.375</c:v>
                </c:pt>
                <c:pt idx="9">
                  <c:v>92.25</c:v>
                </c:pt>
                <c:pt idx="10">
                  <c:v>59.5</c:v>
                </c:pt>
                <c:pt idx="11">
                  <c:v>64.9375</c:v>
                </c:pt>
                <c:pt idx="12">
                  <c:v>84.1875</c:v>
                </c:pt>
                <c:pt idx="13">
                  <c:v>85.0625</c:v>
                </c:pt>
                <c:pt idx="14">
                  <c:v>85.8125</c:v>
                </c:pt>
                <c:pt idx="15">
                  <c:v>88.625</c:v>
                </c:pt>
                <c:pt idx="16">
                  <c:v>101.64705882352941</c:v>
                </c:pt>
                <c:pt idx="17">
                  <c:v>154.05882352941177</c:v>
                </c:pt>
                <c:pt idx="18">
                  <c:v>129.47058823529412</c:v>
                </c:pt>
                <c:pt idx="19">
                  <c:v>85.17647058823529</c:v>
                </c:pt>
                <c:pt idx="20">
                  <c:v>65.588235294117652</c:v>
                </c:pt>
                <c:pt idx="21">
                  <c:v>54.176470588235297</c:v>
                </c:pt>
                <c:pt idx="22">
                  <c:v>39.411764705882355</c:v>
                </c:pt>
                <c:pt idx="23">
                  <c:v>30.764705882352942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3FC-4824-8541-DEEA35EAE1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74680975"/>
        <c:axId val="2010045887"/>
      </c:lineChart>
      <c:catAx>
        <c:axId val="197468097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0045887"/>
        <c:crosses val="autoZero"/>
        <c:auto val="1"/>
        <c:lblAlgn val="ctr"/>
        <c:lblOffset val="100"/>
        <c:noMultiLvlLbl val="0"/>
      </c:catAx>
      <c:valAx>
        <c:axId val="2010045887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468097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[intership data consolidated.xlsx]PivotTableCleanDataset3!PivotTable6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500" b="1" i="0" u="none" strike="noStrike" kern="1200" cap="all" spc="100" normalizeH="0" baseline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/>
              <a:t>Average bike rental Users by weather situation</a:t>
            </a:r>
          </a:p>
        </c:rich>
      </c:tx>
      <c:layout>
        <c:manualLayout>
          <c:xMode val="edge"/>
          <c:yMode val="edge"/>
          <c:x val="0.13269910441615484"/>
          <c:y val="8.731934679826081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500" b="1" i="0" u="none" strike="noStrike" kern="1200" cap="all" spc="100" normalizeH="0" baseline="0">
              <a:solidFill>
                <a:schemeClr val="lt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ivotFmts>
      <c:pivotFmt>
        <c:idx val="0"/>
        <c:spPr>
          <a:pattFill prst="ltUpDiag">
            <a:fgClr>
              <a:schemeClr val="accent1"/>
            </a:fgClr>
            <a:bgClr>
              <a:schemeClr val="lt1"/>
            </a:bgClr>
          </a:patt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rgbClr val="4472C4">
                <a:alpha val="70000"/>
              </a:srgb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pattFill prst="ltUpDiag">
            <a:fgClr>
              <a:schemeClr val="accent1"/>
            </a:fgClr>
            <a:bgClr>
              <a:schemeClr val="lt1"/>
            </a:bgClr>
          </a:patt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rgbClr val="4472C4">
                <a:alpha val="70000"/>
              </a:srgb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pattFill prst="ltUpDiag">
            <a:fgClr>
              <a:schemeClr val="accent1"/>
            </a:fgClr>
            <a:bgClr>
              <a:schemeClr val="lt1"/>
            </a:bgClr>
          </a:patt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rgbClr val="4472C4">
                <a:alpha val="70000"/>
              </a:srgb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PivotTableCleanDataset3!$H$7</c:f>
              <c:strCache>
                <c:ptCount val="1"/>
                <c:pt idx="0">
                  <c:v>Total</c:v>
                </c:pt>
              </c:strCache>
            </c:strRef>
          </c:tx>
          <c:spPr>
            <a:pattFill prst="ltUpDiag">
              <a:fgClr>
                <a:schemeClr val="accent1"/>
              </a:fgClr>
              <a:bgClr>
                <a:schemeClr val="lt1"/>
              </a:bgClr>
            </a:pattFill>
            <a:ln>
              <a:noFill/>
            </a:ln>
            <a:effectLst/>
          </c:spPr>
          <c:invertIfNegative val="0"/>
          <c:cat>
            <c:strRef>
              <c:f>PivotTableCleanDataset3!$G$8:$G$11</c:f>
              <c:strCache>
                <c:ptCount val="3"/>
                <c:pt idx="0">
                  <c:v>Sunny</c:v>
                </c:pt>
                <c:pt idx="1">
                  <c:v>cloudy</c:v>
                </c:pt>
                <c:pt idx="2">
                  <c:v>Rainy</c:v>
                </c:pt>
              </c:strCache>
            </c:strRef>
          </c:cat>
          <c:val>
            <c:numRef>
              <c:f>PivotTableCleanDataset3!$H$8:$H$11</c:f>
              <c:numCache>
                <c:formatCode>0.00</c:formatCode>
                <c:ptCount val="3"/>
                <c:pt idx="0">
                  <c:v>64.705882352941174</c:v>
                </c:pt>
                <c:pt idx="1">
                  <c:v>66.782608695652172</c:v>
                </c:pt>
                <c:pt idx="2">
                  <c:v>35.837837837837839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51-4649-BB67-63AC8A8E4E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69"/>
        <c:overlap val="-20"/>
        <c:axId val="1244958463"/>
        <c:axId val="2010043007"/>
      </c:barChart>
      <c:catAx>
        <c:axId val="124495846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alpha val="2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3175" cap="flat" cmpd="sng" algn="ctr">
            <a:solidFill>
              <a:schemeClr val="accent1">
                <a:lumMod val="60000"/>
                <a:lumOff val="4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50" normalizeH="0" baseline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010043007"/>
        <c:crosses val="autoZero"/>
        <c:auto val="1"/>
        <c:lblAlgn val="ctr"/>
        <c:lblOffset val="100"/>
        <c:noMultiLvlLbl val="0"/>
      </c:catAx>
      <c:valAx>
        <c:axId val="2010043007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24495846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/>
    </a:solidFill>
    <a:ln w="9525" cap="flat" cmpd="sng" algn="ctr">
      <a:solidFill>
        <a:schemeClr val="accent1"/>
      </a:solidFill>
      <a:round/>
    </a:ln>
    <a:effectLst/>
  </c:spPr>
  <c:txPr>
    <a:bodyPr/>
    <a:lstStyle/>
    <a:p>
      <a:pPr>
        <a:defRPr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[intership data consolidated.xlsx]PivotTableCleanDataset3!PivotTable7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Daywise</a:t>
            </a:r>
            <a:r>
              <a:rPr lang="en-US" baseline="0"/>
              <a:t> average users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pattFill prst="narHorz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noFill/>
          </a:ln>
          <a:effectLst>
            <a:innerShdw blurRad="114300">
              <a:schemeClr val="accent1"/>
            </a:inn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pattFill prst="narHorz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noFill/>
          </a:ln>
          <a:effectLst>
            <a:innerShdw blurRad="114300">
              <a:schemeClr val="accent1"/>
            </a:inn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pattFill prst="narHorz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noFill/>
          </a:ln>
          <a:effectLst>
            <a:innerShdw blurRad="114300">
              <a:schemeClr val="accent1"/>
            </a:inn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PivotTableCleanDataset3!$L$7</c:f>
              <c:strCache>
                <c:ptCount val="1"/>
                <c:pt idx="0">
                  <c:v>Total</c:v>
                </c:pt>
              </c:strCache>
            </c:strRef>
          </c:tx>
          <c:spPr>
            <a:pattFill prst="narHorz">
              <a:fgClr>
                <a:schemeClr val="accent1"/>
              </a:fgClr>
              <a:bgClr>
                <a:schemeClr val="accent1"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1"/>
              </a:innerShdw>
            </a:effectLst>
          </c:spPr>
          <c:invertIfNegative val="0"/>
          <c:cat>
            <c:strRef>
              <c:f>PivotTableCleanDataset3!$K$8:$K$15</c:f>
              <c:strCache>
                <c:ptCount val="7"/>
                <c:pt idx="0">
                  <c:v>Sunday</c:v>
                </c:pt>
                <c:pt idx="1">
                  <c:v>Monday</c:v>
                </c:pt>
                <c:pt idx="2">
                  <c:v>Tuesday</c:v>
                </c:pt>
                <c:pt idx="3">
                  <c:v>Wednesday</c:v>
                </c:pt>
                <c:pt idx="4">
                  <c:v>Thursday</c:v>
                </c:pt>
                <c:pt idx="5">
                  <c:v>Friday</c:v>
                </c:pt>
                <c:pt idx="6">
                  <c:v>Saturday</c:v>
                </c:pt>
              </c:strCache>
            </c:strRef>
          </c:cat>
          <c:val>
            <c:numRef>
              <c:f>PivotTableCleanDataset3!$L$8:$L$15</c:f>
              <c:numCache>
                <c:formatCode>0.0</c:formatCode>
                <c:ptCount val="7"/>
                <c:pt idx="0">
                  <c:v>61.542857142857144</c:v>
                </c:pt>
                <c:pt idx="1">
                  <c:v>60.071428571428569</c:v>
                </c:pt>
                <c:pt idx="2">
                  <c:v>61.48936170212766</c:v>
                </c:pt>
                <c:pt idx="3">
                  <c:v>66.61702127659575</c:v>
                </c:pt>
                <c:pt idx="4">
                  <c:v>67.130434782608702</c:v>
                </c:pt>
                <c:pt idx="5">
                  <c:v>76.415094339622641</c:v>
                </c:pt>
                <c:pt idx="6">
                  <c:v>50.352112676056336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B3-4DA7-8F19-20B4D4530C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64"/>
        <c:overlap val="-22"/>
        <c:axId val="1244966815"/>
        <c:axId val="1974158047"/>
      </c:barChart>
      <c:catAx>
        <c:axId val="12449668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974158047"/>
        <c:crosses val="autoZero"/>
        <c:auto val="1"/>
        <c:lblAlgn val="ctr"/>
        <c:lblOffset val="100"/>
        <c:noMultiLvlLbl val="0"/>
      </c:catAx>
      <c:valAx>
        <c:axId val="1974158047"/>
        <c:scaling>
          <c:orientation val="minMax"/>
        </c:scaling>
        <c:delete val="0"/>
        <c:axPos val="l"/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449668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14">
  <cs:axisTitle>
    <cs:lnRef idx="0"/>
    <cs:fillRef idx="0"/>
    <cs:effectRef idx="0"/>
    <cs:fontRef idx="minor">
      <a:schemeClr val="lt1"/>
    </cs:fontRef>
    <cs:defRPr sz="900" b="1" kern="1200"/>
  </cs:axisTitle>
  <cs:category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800" kern="1200" cap="all" spc="150" normalizeH="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  <cs:defRPr sz="1000" kern="1200"/>
  </cs:chartArea>
  <cs:dataLabel>
    <cs:lnRef idx="0"/>
    <cs:fillRef idx="0">
      <cs:styleClr val="auto"/>
    </cs:fillRef>
    <cs:effectRef idx="0"/>
    <cs:fontRef idx="minor">
      <a:schemeClr val="lt1"/>
    </cs:fontRef>
    <cs:spPr>
      <a:solidFill>
        <a:schemeClr val="phClr">
          <a:alpha val="70000"/>
        </a:schemeClr>
      </a:solidFill>
    </cs:spPr>
    <cs:defRPr sz="900" kern="120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34925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22225">
        <a:solidFill>
          <a:schemeClr val="lt1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900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900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500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900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0.03835</cdr:x>
      <cdr:y>0.90249</cdr:y>
    </cdr:from>
    <cdr:to>
      <cdr:x>0.31676</cdr:x>
      <cdr:y>0.97279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205740" y="3032760"/>
          <a:ext cx="1493520" cy="23622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en-IN" sz="110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7DFE9A-E142-41C0-83B8-CCFA90BCA1E7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F51D5E-D126-48F0-A610-518DBD9925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4924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F51D5E-D126-48F0-A610-518DBD99251A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1390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05A1C-F5D5-4C34-9547-466F73DF3CCF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C14B8-6F6B-4EF5-BB61-E124E59CEB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5045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05A1C-F5D5-4C34-9547-466F73DF3CCF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C14B8-6F6B-4EF5-BB61-E124E59CEB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3082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05A1C-F5D5-4C34-9547-466F73DF3CCF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C14B8-6F6B-4EF5-BB61-E124E59CEB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5967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05A1C-F5D5-4C34-9547-466F73DF3CCF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C14B8-6F6B-4EF5-BB61-E124E59CEB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0315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05A1C-F5D5-4C34-9547-466F73DF3CCF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C14B8-6F6B-4EF5-BB61-E124E59CEB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2215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05A1C-F5D5-4C34-9547-466F73DF3CCF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C14B8-6F6B-4EF5-BB61-E124E59CEB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7202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05A1C-F5D5-4C34-9547-466F73DF3CCF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C14B8-6F6B-4EF5-BB61-E124E59CEB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5320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05A1C-F5D5-4C34-9547-466F73DF3CCF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C14B8-6F6B-4EF5-BB61-E124E59CEB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0452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05A1C-F5D5-4C34-9547-466F73DF3CCF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C14B8-6F6B-4EF5-BB61-E124E59CEB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8057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05A1C-F5D5-4C34-9547-466F73DF3CCF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C14B8-6F6B-4EF5-BB61-E124E59CEB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3752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05A1C-F5D5-4C34-9547-466F73DF3CCF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C14B8-6F6B-4EF5-BB61-E124E59CEB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63600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05A1C-F5D5-4C34-9547-466F73DF3CCF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C14B8-6F6B-4EF5-BB61-E124E59CEBC0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744596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05A1C-F5D5-4C34-9547-466F73DF3CCF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C14B8-6F6B-4EF5-BB61-E124E59CEB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35740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05A1C-F5D5-4C34-9547-466F73DF3CCF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C14B8-6F6B-4EF5-BB61-E124E59CEB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9668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05A1C-F5D5-4C34-9547-466F73DF3CCF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C14B8-6F6B-4EF5-BB61-E124E59CEB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87028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05A1C-F5D5-4C34-9547-466F73DF3CCF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C14B8-6F6B-4EF5-BB61-E124E59CEB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6347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05A1C-F5D5-4C34-9547-466F73DF3CCF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C14B8-6F6B-4EF5-BB61-E124E59CEB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2527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1505A1C-F5D5-4C34-9547-466F73DF3CCF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6C14B8-6F6B-4EF5-BB61-E124E59CEB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57911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1720" y="84438"/>
            <a:ext cx="6620968" cy="1889421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Arial" panose="020B0604020202020204" pitchFamily="34" charset="0"/>
                <a:cs typeface="Arial" panose="020B0604020202020204" pitchFamily="34" charset="0"/>
              </a:rPr>
              <a:t>Bike Sharing Data Analysis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19672" y="3861048"/>
            <a:ext cx="6620968" cy="2209800"/>
          </a:xfrm>
        </p:spPr>
        <p:txBody>
          <a:bodyPr>
            <a:normAutofit lnSpcReduction="10000"/>
          </a:bodyPr>
          <a:lstStyle/>
          <a:p>
            <a:pPr algn="ctr"/>
            <a:r>
              <a:rPr lang="en-IN" sz="2400" b="1" dirty="0" err="1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Nexthike</a:t>
            </a:r>
            <a:r>
              <a:rPr lang="en-IN" sz="2400" b="1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Internship Project</a:t>
            </a:r>
          </a:p>
          <a:p>
            <a:pPr algn="ctr"/>
            <a:endParaRPr lang="en-IN" sz="4800" b="1" dirty="0">
              <a:solidFill>
                <a:schemeClr val="tx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2400" b="1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Submitted By:</a:t>
            </a:r>
          </a:p>
          <a:p>
            <a:pPr algn="ctr"/>
            <a:r>
              <a:rPr lang="en-IN" sz="2400" b="1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Dhanashri Barve Dixit</a:t>
            </a:r>
            <a:endParaRPr lang="en-IN" sz="1800" b="1" dirty="0">
              <a:solidFill>
                <a:schemeClr val="tx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4E0DB4-DE92-E32B-F4AF-2879318A93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2" y="84438"/>
            <a:ext cx="2266950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507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412776"/>
            <a:ext cx="8229600" cy="36724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• To </a:t>
            </a:r>
            <a:r>
              <a:rPr lang="en-IN" sz="1800" dirty="0" err="1">
                <a:latin typeface="Arial" panose="020B0604020202020204" pitchFamily="34" charset="0"/>
                <a:cs typeface="Arial" panose="020B0604020202020204" pitchFamily="34" charset="0"/>
              </a:rPr>
              <a:t>analyze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bike-sharing rental data using Microsoft Excel.</a:t>
            </a:r>
          </a:p>
          <a:p>
            <a:pPr marL="0" indent="0">
              <a:buNone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• To clean, </a:t>
            </a:r>
            <a:r>
              <a:rPr lang="en-IN" sz="1800" dirty="0" err="1">
                <a:latin typeface="Arial" panose="020B0604020202020204" pitchFamily="34" charset="0"/>
                <a:cs typeface="Arial" panose="020B0604020202020204" pitchFamily="34" charset="0"/>
              </a:rPr>
              <a:t>preprocess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, and integrate multiple datasets into one final dataset.</a:t>
            </a:r>
          </a:p>
          <a:p>
            <a:pPr marL="0" indent="0">
              <a:buNone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• To calculate descriptive statistics such as </a:t>
            </a: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Mean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Median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Mode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Standard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Deviation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Variance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• To identify rental patterns based on hour, weekday, weather conditions, temperature, and user type.</a:t>
            </a:r>
          </a:p>
          <a:p>
            <a:pPr marL="0" indent="0">
              <a:buNone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• To create interactive charts and a dashboard for effective data visualization.</a:t>
            </a:r>
          </a:p>
          <a:p>
            <a:pPr marL="0" indent="0">
              <a:buNone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• To provide business insights and recommendations based on data analysis.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3432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Dataset Overview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4478710"/>
              </p:ext>
            </p:extLst>
          </p:nvPr>
        </p:nvGraphicFramePr>
        <p:xfrm>
          <a:off x="251520" y="836713"/>
          <a:ext cx="8712968" cy="3026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564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6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5478"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5196">
                <a:tc>
                  <a:txBody>
                    <a:bodyPr/>
                    <a:lstStyle/>
                    <a:p>
                      <a:r>
                        <a:rPr lang="en-IN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CleanedDataset</a:t>
                      </a: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Date &amp; Time Information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5196">
                <a:tc>
                  <a:txBody>
                    <a:bodyPr/>
                    <a:lstStyle/>
                    <a:p>
                      <a:r>
                        <a:rPr lang="en-IN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CleanedDataset</a:t>
                      </a: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Weather &amp; Rental Information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5196">
                <a:tc>
                  <a:txBody>
                    <a:bodyPr/>
                    <a:lstStyle/>
                    <a:p>
                      <a:r>
                        <a:rPr lang="en-IN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CleanedDataset</a:t>
                      </a: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Additional Rental Records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5196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CleanedData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A(Combined DataSet1 +Dataset2)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Combined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DataSet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Using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PowerQuery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0765338"/>
                  </a:ext>
                </a:extLst>
              </a:tr>
              <a:tr h="505196"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Final 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Combined Dataset (1000 Records)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51520" y="4049224"/>
            <a:ext cx="374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Total Records Analysed: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1000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951AE9D-2257-5EF2-9157-B4BA21C882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900256"/>
              </p:ext>
            </p:extLst>
          </p:nvPr>
        </p:nvGraphicFramePr>
        <p:xfrm>
          <a:off x="251520" y="4437112"/>
          <a:ext cx="8712969" cy="2028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8022">
                  <a:extLst>
                    <a:ext uri="{9D8B030D-6E8A-4147-A177-3AD203B41FA5}">
                      <a16:colId xmlns:a16="http://schemas.microsoft.com/office/drawing/2014/main" val="1352912368"/>
                    </a:ext>
                  </a:extLst>
                </a:gridCol>
                <a:gridCol w="756153">
                  <a:extLst>
                    <a:ext uri="{9D8B030D-6E8A-4147-A177-3AD203B41FA5}">
                      <a16:colId xmlns:a16="http://schemas.microsoft.com/office/drawing/2014/main" val="791684935"/>
                    </a:ext>
                  </a:extLst>
                </a:gridCol>
                <a:gridCol w="466021">
                  <a:extLst>
                    <a:ext uri="{9D8B030D-6E8A-4147-A177-3AD203B41FA5}">
                      <a16:colId xmlns:a16="http://schemas.microsoft.com/office/drawing/2014/main" val="1433065180"/>
                    </a:ext>
                  </a:extLst>
                </a:gridCol>
                <a:gridCol w="354733">
                  <a:extLst>
                    <a:ext uri="{9D8B030D-6E8A-4147-A177-3AD203B41FA5}">
                      <a16:colId xmlns:a16="http://schemas.microsoft.com/office/drawing/2014/main" val="1340892754"/>
                    </a:ext>
                  </a:extLst>
                </a:gridCol>
                <a:gridCol w="454428">
                  <a:extLst>
                    <a:ext uri="{9D8B030D-6E8A-4147-A177-3AD203B41FA5}">
                      <a16:colId xmlns:a16="http://schemas.microsoft.com/office/drawing/2014/main" val="2240739051"/>
                    </a:ext>
                  </a:extLst>
                </a:gridCol>
                <a:gridCol w="368644">
                  <a:extLst>
                    <a:ext uri="{9D8B030D-6E8A-4147-A177-3AD203B41FA5}">
                      <a16:colId xmlns:a16="http://schemas.microsoft.com/office/drawing/2014/main" val="149520573"/>
                    </a:ext>
                  </a:extLst>
                </a:gridCol>
                <a:gridCol w="486887">
                  <a:extLst>
                    <a:ext uri="{9D8B030D-6E8A-4147-A177-3AD203B41FA5}">
                      <a16:colId xmlns:a16="http://schemas.microsoft.com/office/drawing/2014/main" val="2252841329"/>
                    </a:ext>
                  </a:extLst>
                </a:gridCol>
                <a:gridCol w="709464">
                  <a:extLst>
                    <a:ext uri="{9D8B030D-6E8A-4147-A177-3AD203B41FA5}">
                      <a16:colId xmlns:a16="http://schemas.microsoft.com/office/drawing/2014/main" val="2050793171"/>
                    </a:ext>
                  </a:extLst>
                </a:gridCol>
                <a:gridCol w="709464">
                  <a:extLst>
                    <a:ext uri="{9D8B030D-6E8A-4147-A177-3AD203B41FA5}">
                      <a16:colId xmlns:a16="http://schemas.microsoft.com/office/drawing/2014/main" val="677636557"/>
                    </a:ext>
                  </a:extLst>
                </a:gridCol>
                <a:gridCol w="549487">
                  <a:extLst>
                    <a:ext uri="{9D8B030D-6E8A-4147-A177-3AD203B41FA5}">
                      <a16:colId xmlns:a16="http://schemas.microsoft.com/office/drawing/2014/main" val="3767887499"/>
                    </a:ext>
                  </a:extLst>
                </a:gridCol>
                <a:gridCol w="445154">
                  <a:extLst>
                    <a:ext uri="{9D8B030D-6E8A-4147-A177-3AD203B41FA5}">
                      <a16:colId xmlns:a16="http://schemas.microsoft.com/office/drawing/2014/main" val="2795553390"/>
                    </a:ext>
                  </a:extLst>
                </a:gridCol>
                <a:gridCol w="549487">
                  <a:extLst>
                    <a:ext uri="{9D8B030D-6E8A-4147-A177-3AD203B41FA5}">
                      <a16:colId xmlns:a16="http://schemas.microsoft.com/office/drawing/2014/main" val="2317843457"/>
                    </a:ext>
                  </a:extLst>
                </a:gridCol>
                <a:gridCol w="472977">
                  <a:extLst>
                    <a:ext uri="{9D8B030D-6E8A-4147-A177-3AD203B41FA5}">
                      <a16:colId xmlns:a16="http://schemas.microsoft.com/office/drawing/2014/main" val="2695658434"/>
                    </a:ext>
                  </a:extLst>
                </a:gridCol>
                <a:gridCol w="521666">
                  <a:extLst>
                    <a:ext uri="{9D8B030D-6E8A-4147-A177-3AD203B41FA5}">
                      <a16:colId xmlns:a16="http://schemas.microsoft.com/office/drawing/2014/main" val="2220636315"/>
                    </a:ext>
                  </a:extLst>
                </a:gridCol>
                <a:gridCol w="825391">
                  <a:extLst>
                    <a:ext uri="{9D8B030D-6E8A-4147-A177-3AD203B41FA5}">
                      <a16:colId xmlns:a16="http://schemas.microsoft.com/office/drawing/2014/main" val="891060982"/>
                    </a:ext>
                  </a:extLst>
                </a:gridCol>
                <a:gridCol w="574991">
                  <a:extLst>
                    <a:ext uri="{9D8B030D-6E8A-4147-A177-3AD203B41FA5}">
                      <a16:colId xmlns:a16="http://schemas.microsoft.com/office/drawing/2014/main" val="1418423527"/>
                    </a:ext>
                  </a:extLst>
                </a:gridCol>
              </a:tblGrid>
              <a:tr h="2109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3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3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3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                  </a:t>
                      </a:r>
                      <a:endParaRPr lang="en-IN" sz="13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 anchor="b"/>
                </a:tc>
                <a:tc rowSpan="2"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Bike Sharing Data Analysis</a:t>
                      </a:r>
                      <a:endParaRPr lang="en-IN" sz="13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 anchor="ctr"/>
                </a:tc>
                <a:tc rowSpan="2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3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3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3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3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 anchor="b"/>
                </a:tc>
                <a:extLst>
                  <a:ext uri="{0D108BD9-81ED-4DB2-BD59-A6C34878D82A}">
                    <a16:rowId xmlns:a16="http://schemas.microsoft.com/office/drawing/2014/main" val="1053553142"/>
                  </a:ext>
                </a:extLst>
              </a:tr>
              <a:tr h="21099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3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3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3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3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3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 anchor="b"/>
                </a:tc>
                <a:tc gridSpan="7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3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3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3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3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 anchor="b"/>
                </a:tc>
                <a:extLst>
                  <a:ext uri="{0D108BD9-81ED-4DB2-BD59-A6C34878D82A}">
                    <a16:rowId xmlns:a16="http://schemas.microsoft.com/office/drawing/2014/main" val="849770697"/>
                  </a:ext>
                </a:extLst>
              </a:tr>
              <a:tr h="42842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Instant</a:t>
                      </a:r>
                      <a:endParaRPr lang="en-IN" sz="6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Date</a:t>
                      </a:r>
                      <a:endParaRPr lang="en-IN" sz="6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Season</a:t>
                      </a:r>
                      <a:endParaRPr lang="en-IN" sz="6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Year</a:t>
                      </a:r>
                      <a:endParaRPr lang="en-IN" sz="6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Month</a:t>
                      </a:r>
                      <a:endParaRPr lang="en-IN" sz="6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Hour</a:t>
                      </a:r>
                      <a:endParaRPr lang="en-IN" sz="6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Holiday</a:t>
                      </a:r>
                      <a:endParaRPr lang="en-IN" sz="6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Weekday</a:t>
                      </a:r>
                      <a:endParaRPr lang="en-IN" sz="6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Weathersit</a:t>
                      </a:r>
                      <a:endParaRPr lang="en-IN" sz="6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Temp</a:t>
                      </a:r>
                      <a:endParaRPr lang="en-IN" sz="6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Atemp</a:t>
                      </a:r>
                      <a:endParaRPr lang="en-IN" sz="6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Humidity</a:t>
                      </a:r>
                      <a:endParaRPr lang="en-IN" sz="6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Windspeed</a:t>
                      </a:r>
                      <a:endParaRPr lang="en-IN" sz="6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Casual</a:t>
                      </a:r>
                      <a:endParaRPr lang="en-IN" sz="6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Registered</a:t>
                      </a:r>
                      <a:endParaRPr lang="en-IN" sz="6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Count</a:t>
                      </a:r>
                      <a:endParaRPr lang="en-IN" sz="6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extLst>
                  <a:ext uri="{0D108BD9-81ED-4DB2-BD59-A6C34878D82A}">
                    <a16:rowId xmlns:a16="http://schemas.microsoft.com/office/drawing/2014/main" val="1582502987"/>
                  </a:ext>
                </a:extLst>
              </a:tr>
              <a:tr h="10710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01-01-2011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FALSE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0.24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0.288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extLst>
                  <a:ext uri="{0D108BD9-81ED-4DB2-BD59-A6C34878D82A}">
                    <a16:rowId xmlns:a16="http://schemas.microsoft.com/office/drawing/2014/main" val="2946958763"/>
                  </a:ext>
                </a:extLst>
              </a:tr>
              <a:tr h="10710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01-01-2011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FALSE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0.22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0.273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extLst>
                  <a:ext uri="{0D108BD9-81ED-4DB2-BD59-A6C34878D82A}">
                    <a16:rowId xmlns:a16="http://schemas.microsoft.com/office/drawing/2014/main" val="3701417766"/>
                  </a:ext>
                </a:extLst>
              </a:tr>
              <a:tr h="10710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01-01-2011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FALSE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0.22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0.273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extLst>
                  <a:ext uri="{0D108BD9-81ED-4DB2-BD59-A6C34878D82A}">
                    <a16:rowId xmlns:a16="http://schemas.microsoft.com/office/drawing/2014/main" val="2997468332"/>
                  </a:ext>
                </a:extLst>
              </a:tr>
              <a:tr h="10710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01-01-2011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FALSE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0.24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0.288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0.75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extLst>
                  <a:ext uri="{0D108BD9-81ED-4DB2-BD59-A6C34878D82A}">
                    <a16:rowId xmlns:a16="http://schemas.microsoft.com/office/drawing/2014/main" val="1364321123"/>
                  </a:ext>
                </a:extLst>
              </a:tr>
              <a:tr h="10710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01-01-2011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FALSE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0.24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0.288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0.75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extLst>
                  <a:ext uri="{0D108BD9-81ED-4DB2-BD59-A6C34878D82A}">
                    <a16:rowId xmlns:a16="http://schemas.microsoft.com/office/drawing/2014/main" val="1996204934"/>
                  </a:ext>
                </a:extLst>
              </a:tr>
              <a:tr h="10710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01-01-2011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FALSE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0.24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0.258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0.75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0.09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extLst>
                  <a:ext uri="{0D108BD9-81ED-4DB2-BD59-A6C34878D82A}">
                    <a16:rowId xmlns:a16="http://schemas.microsoft.com/office/drawing/2014/main" val="4032229376"/>
                  </a:ext>
                </a:extLst>
              </a:tr>
              <a:tr h="10710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01-01-2011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FALSE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0.22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0.273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extLst>
                  <a:ext uri="{0D108BD9-81ED-4DB2-BD59-A6C34878D82A}">
                    <a16:rowId xmlns:a16="http://schemas.microsoft.com/office/drawing/2014/main" val="911831888"/>
                  </a:ext>
                </a:extLst>
              </a:tr>
              <a:tr h="10710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01-01-2011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FALSE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0.258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0.86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extLst>
                  <a:ext uri="{0D108BD9-81ED-4DB2-BD59-A6C34878D82A}">
                    <a16:rowId xmlns:a16="http://schemas.microsoft.com/office/drawing/2014/main" val="3177589452"/>
                  </a:ext>
                </a:extLst>
              </a:tr>
              <a:tr h="10710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01-01-2011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FALSE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0.24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0.75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extLst>
                  <a:ext uri="{0D108BD9-81ED-4DB2-BD59-A6C34878D82A}">
                    <a16:rowId xmlns:a16="http://schemas.microsoft.com/office/drawing/2014/main" val="1642307600"/>
                  </a:ext>
                </a:extLst>
              </a:tr>
              <a:tr h="10710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01-01-2011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FALSE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0.349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0.76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extLst>
                  <a:ext uri="{0D108BD9-81ED-4DB2-BD59-A6C34878D82A}">
                    <a16:rowId xmlns:a16="http://schemas.microsoft.com/office/drawing/2014/main" val="3637445249"/>
                  </a:ext>
                </a:extLst>
              </a:tr>
              <a:tr h="10710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01-01-2011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FALSE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0.394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0.76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0.254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</a:t>
                      </a:r>
                      <a:endParaRPr lang="en-IN" sz="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355" marR="5355" marT="5355" marB="0"/>
                </a:tc>
                <a:extLst>
                  <a:ext uri="{0D108BD9-81ED-4DB2-BD59-A6C34878D82A}">
                    <a16:rowId xmlns:a16="http://schemas.microsoft.com/office/drawing/2014/main" val="220421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0945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04664"/>
            <a:ext cx="8229600" cy="778098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latin typeface="Arial" panose="020B0604020202020204" pitchFamily="34" charset="0"/>
                <a:cs typeface="Arial" panose="020B0604020202020204" pitchFamily="34" charset="0"/>
              </a:rPr>
              <a:t>Data Cleaning &amp; </a:t>
            </a:r>
            <a:r>
              <a:rPr lang="en-IN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Preprocessing</a:t>
            </a:r>
            <a:b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323528" y="1340768"/>
            <a:ext cx="8208912" cy="302433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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Imported raw datasets</a:t>
            </a:r>
          </a:p>
          <a:p>
            <a:pPr marL="0" indent="0">
              <a:buNone/>
            </a:pPr>
            <a:r>
              <a:rPr lang="en-IN"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</a:t>
            </a:r>
            <a:r>
              <a:rPr lang="en-IN"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Renamed column headers</a:t>
            </a:r>
          </a:p>
          <a:p>
            <a:pPr marL="0" indent="0">
              <a:buNone/>
            </a:pPr>
            <a:r>
              <a:rPr lang="en-IN"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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Checked missing values</a:t>
            </a:r>
          </a:p>
          <a:p>
            <a:pPr marL="0" indent="0">
              <a:buNone/>
            </a:pPr>
            <a:r>
              <a:rPr lang="en-IN"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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Removed duplicate records </a:t>
            </a:r>
          </a:p>
          <a:p>
            <a:pPr marL="0" indent="0">
              <a:buNone/>
            </a:pPr>
            <a:r>
              <a:rPr lang="en-IN"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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Calculated statistics </a:t>
            </a:r>
          </a:p>
          <a:p>
            <a:pPr marL="0" indent="0">
              <a:buNone/>
            </a:pPr>
            <a:r>
              <a:rPr lang="en-IN"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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Merged datasets </a:t>
            </a:r>
          </a:p>
          <a:p>
            <a:pPr marL="0" indent="0">
              <a:buNone/>
            </a:pPr>
            <a:r>
              <a:rPr lang="en-IN"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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Created Pivot Tables &amp; Charts </a:t>
            </a:r>
          </a:p>
          <a:p>
            <a:pPr marL="0" indent="0">
              <a:buNone/>
            </a:pPr>
            <a:r>
              <a:rPr lang="en-IN"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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Built Dashboard</a:t>
            </a:r>
          </a:p>
        </p:txBody>
      </p:sp>
      <p:sp>
        <p:nvSpPr>
          <p:cNvPr id="4" name="Rounded Rectangle 12">
            <a:extLst>
              <a:ext uri="{FF2B5EF4-FFF2-40B4-BE49-F238E27FC236}">
                <a16:creationId xmlns:a16="http://schemas.microsoft.com/office/drawing/2014/main" id="{8549D8C1-B9CA-E709-B442-C6D1AFACF045}"/>
              </a:ext>
            </a:extLst>
          </p:cNvPr>
          <p:cNvSpPr/>
          <p:nvPr/>
        </p:nvSpPr>
        <p:spPr>
          <a:xfrm>
            <a:off x="0" y="5113999"/>
            <a:ext cx="1547664" cy="411480"/>
          </a:xfrm>
          <a:prstGeom prst="roundRect">
            <a:avLst/>
          </a:prstGeom>
          <a:solidFill>
            <a:srgbClr val="E1F2F4"/>
          </a:solidFill>
          <a:ln>
            <a:solidFill>
              <a:srgbClr val="00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4263F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Import</a:t>
            </a:r>
          </a:p>
        </p:txBody>
      </p:sp>
      <p:sp>
        <p:nvSpPr>
          <p:cNvPr id="6" name="Rounded Rectangle 13">
            <a:extLst>
              <a:ext uri="{FF2B5EF4-FFF2-40B4-BE49-F238E27FC236}">
                <a16:creationId xmlns:a16="http://schemas.microsoft.com/office/drawing/2014/main" id="{D4AF16C9-2D9A-7BD0-46DC-06182E5AA3F9}"/>
              </a:ext>
            </a:extLst>
          </p:cNvPr>
          <p:cNvSpPr/>
          <p:nvPr/>
        </p:nvSpPr>
        <p:spPr>
          <a:xfrm>
            <a:off x="1801694" y="5113999"/>
            <a:ext cx="1547664" cy="411480"/>
          </a:xfrm>
          <a:prstGeom prst="roundRect">
            <a:avLst/>
          </a:prstGeom>
          <a:solidFill>
            <a:srgbClr val="E1F2F4"/>
          </a:solidFill>
          <a:ln>
            <a:solidFill>
              <a:srgbClr val="00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4263F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Clean</a:t>
            </a:r>
          </a:p>
        </p:txBody>
      </p:sp>
      <p:sp>
        <p:nvSpPr>
          <p:cNvPr id="9" name="Rounded Rectangle 14">
            <a:extLst>
              <a:ext uri="{FF2B5EF4-FFF2-40B4-BE49-F238E27FC236}">
                <a16:creationId xmlns:a16="http://schemas.microsoft.com/office/drawing/2014/main" id="{8264F9DB-427F-10A0-0778-E5A324A2FA48}"/>
              </a:ext>
            </a:extLst>
          </p:cNvPr>
          <p:cNvSpPr/>
          <p:nvPr/>
        </p:nvSpPr>
        <p:spPr>
          <a:xfrm>
            <a:off x="3603389" y="5105752"/>
            <a:ext cx="1547664" cy="411480"/>
          </a:xfrm>
          <a:prstGeom prst="roundRect">
            <a:avLst/>
          </a:prstGeom>
          <a:solidFill>
            <a:srgbClr val="E1F2F4"/>
          </a:solidFill>
          <a:ln>
            <a:solidFill>
              <a:srgbClr val="00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4263F"/>
                </a:solidFill>
                <a:latin typeface="Aptos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Merge</a:t>
            </a:r>
          </a:p>
        </p:txBody>
      </p:sp>
      <p:sp>
        <p:nvSpPr>
          <p:cNvPr id="11" name="Rounded Rectangle 15">
            <a:extLst>
              <a:ext uri="{FF2B5EF4-FFF2-40B4-BE49-F238E27FC236}">
                <a16:creationId xmlns:a16="http://schemas.microsoft.com/office/drawing/2014/main" id="{14590239-3C90-BC26-F2A1-028541F0582C}"/>
              </a:ext>
            </a:extLst>
          </p:cNvPr>
          <p:cNvSpPr/>
          <p:nvPr/>
        </p:nvSpPr>
        <p:spPr>
          <a:xfrm>
            <a:off x="5548236" y="5090648"/>
            <a:ext cx="1547664" cy="411480"/>
          </a:xfrm>
          <a:prstGeom prst="roundRect">
            <a:avLst/>
          </a:prstGeom>
          <a:solidFill>
            <a:srgbClr val="E1F2F4"/>
          </a:solidFill>
          <a:ln>
            <a:solidFill>
              <a:srgbClr val="00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4263F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Analyze</a:t>
            </a:r>
          </a:p>
        </p:txBody>
      </p:sp>
      <p:sp>
        <p:nvSpPr>
          <p:cNvPr id="13" name="Rounded Rectangle 16">
            <a:extLst>
              <a:ext uri="{FF2B5EF4-FFF2-40B4-BE49-F238E27FC236}">
                <a16:creationId xmlns:a16="http://schemas.microsoft.com/office/drawing/2014/main" id="{AC74888B-B3B2-48CE-D49A-C6F6FA933EB8}"/>
              </a:ext>
            </a:extLst>
          </p:cNvPr>
          <p:cNvSpPr/>
          <p:nvPr/>
        </p:nvSpPr>
        <p:spPr>
          <a:xfrm>
            <a:off x="7571108" y="5090648"/>
            <a:ext cx="1547664" cy="411480"/>
          </a:xfrm>
          <a:prstGeom prst="roundRect">
            <a:avLst/>
          </a:prstGeom>
          <a:solidFill>
            <a:srgbClr val="E1F2F4"/>
          </a:solidFill>
          <a:ln>
            <a:solidFill>
              <a:srgbClr val="00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4263F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Visualize</a:t>
            </a:r>
          </a:p>
        </p:txBody>
      </p:sp>
    </p:spTree>
    <p:extLst>
      <p:ext uri="{BB962C8B-B14F-4D97-AF65-F5344CB8AC3E}">
        <p14:creationId xmlns:p14="http://schemas.microsoft.com/office/powerpoint/2010/main" val="1119420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44624"/>
            <a:ext cx="8229600" cy="936104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Arial" panose="020B0604020202020204" pitchFamily="34" charset="0"/>
                <a:cs typeface="Arial" panose="020B0604020202020204" pitchFamily="34" charset="0"/>
              </a:rPr>
              <a:t>Data Analysis – Dataset 1 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360460"/>
              </p:ext>
            </p:extLst>
          </p:nvPr>
        </p:nvGraphicFramePr>
        <p:xfrm>
          <a:off x="323528" y="1484784"/>
          <a:ext cx="4186808" cy="25926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82956186"/>
              </p:ext>
            </p:extLst>
          </p:nvPr>
        </p:nvGraphicFramePr>
        <p:xfrm>
          <a:off x="4644008" y="1484784"/>
          <a:ext cx="4104456" cy="26642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7584" y="4365104"/>
            <a:ext cx="79208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Key Observations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Average temperature changes across different hours of the day.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Weather conditions influence temperature variations.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Time and weather are important environmental factors considered in the analysis.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9971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008112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Arial" panose="020B0604020202020204" pitchFamily="34" charset="0"/>
                <a:cs typeface="Arial" panose="020B0604020202020204" pitchFamily="34" charset="0"/>
              </a:rPr>
              <a:t>Data Analysis – Dataset 2</a:t>
            </a:r>
            <a:r>
              <a:rPr lang="en-IN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87912502"/>
              </p:ext>
            </p:extLst>
          </p:nvPr>
        </p:nvGraphicFramePr>
        <p:xfrm>
          <a:off x="107504" y="1268760"/>
          <a:ext cx="4176464" cy="252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81874034"/>
              </p:ext>
            </p:extLst>
          </p:nvPr>
        </p:nvGraphicFramePr>
        <p:xfrm>
          <a:off x="4499992" y="1291793"/>
          <a:ext cx="4176464" cy="252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8688" y="4077072"/>
            <a:ext cx="82089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Key Observations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Higher apparent (feels-like) temperature is associated with increased bike rentals.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Registered users account for a much larger share of rentals than casual users.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User type and weather conditions play a significant role in bike-sharing demand.</a:t>
            </a:r>
          </a:p>
        </p:txBody>
      </p:sp>
    </p:spTree>
    <p:extLst>
      <p:ext uri="{BB962C8B-B14F-4D97-AF65-F5344CB8AC3E}">
        <p14:creationId xmlns:p14="http://schemas.microsoft.com/office/powerpoint/2010/main" val="1632208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864096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Arial" panose="020B0604020202020204" pitchFamily="34" charset="0"/>
                <a:cs typeface="Arial" panose="020B0604020202020204" pitchFamily="34" charset="0"/>
              </a:rPr>
              <a:t>Additional Analysis</a:t>
            </a:r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97174914"/>
              </p:ext>
            </p:extLst>
          </p:nvPr>
        </p:nvGraphicFramePr>
        <p:xfrm>
          <a:off x="4679504" y="1412776"/>
          <a:ext cx="4464496" cy="2448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17312829"/>
              </p:ext>
            </p:extLst>
          </p:nvPr>
        </p:nvGraphicFramePr>
        <p:xfrm>
          <a:off x="0" y="1340768"/>
          <a:ext cx="4417664" cy="252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2138" y="4706560"/>
            <a:ext cx="788132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Key Observations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Humidity influences bike rental activity.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Wind speed also affects rental demand, although its impact appears less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 pronounced.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Weather-related variables help explain variations in bike usage.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8919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1B927-516F-54F4-1122-DACC29CBA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b="1" dirty="0">
                <a:latin typeface="Arial" panose="020B0604020202020204" pitchFamily="34" charset="0"/>
                <a:cs typeface="Arial" panose="020B0604020202020204" pitchFamily="34" charset="0"/>
              </a:rPr>
              <a:t>Data Analysis – Dataset 3</a:t>
            </a:r>
            <a:r>
              <a:rPr lang="en-IN" sz="4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F6167D38-F2DC-65DB-BC96-51AC0DFDDA2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54942229"/>
              </p:ext>
            </p:extLst>
          </p:nvPr>
        </p:nvGraphicFramePr>
        <p:xfrm>
          <a:off x="141411" y="1141264"/>
          <a:ext cx="3899434" cy="22877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81D47963-A3B2-B3C5-54EB-3E492BF72BC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05155457"/>
              </p:ext>
            </p:extLst>
          </p:nvPr>
        </p:nvGraphicFramePr>
        <p:xfrm>
          <a:off x="4246096" y="1290177"/>
          <a:ext cx="4745212" cy="21388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2BAA2E04-9F79-027B-9A5D-A680BB04362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12649544"/>
              </p:ext>
            </p:extLst>
          </p:nvPr>
        </p:nvGraphicFramePr>
        <p:xfrm>
          <a:off x="152692" y="3282879"/>
          <a:ext cx="3627220" cy="22877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3D47EB8-9051-83C0-6D9E-DB2B6E96B788}"/>
              </a:ext>
            </a:extLst>
          </p:cNvPr>
          <p:cNvSpPr txBox="1"/>
          <p:nvPr/>
        </p:nvSpPr>
        <p:spPr>
          <a:xfrm>
            <a:off x="4246096" y="3282878"/>
            <a:ext cx="474521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Average Bike Rentals Interprets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Hourlywise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in Trendline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Aveage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Users interprets by Different Weather Situation Like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Sunny,Cloudy,Rainy,And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Windy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Daywise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Users interprets by Column Chart</a:t>
            </a:r>
          </a:p>
        </p:txBody>
      </p:sp>
    </p:spTree>
    <p:extLst>
      <p:ext uri="{BB962C8B-B14F-4D97-AF65-F5344CB8AC3E}">
        <p14:creationId xmlns:p14="http://schemas.microsoft.com/office/powerpoint/2010/main" val="3600793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61CC1-092B-5DCD-63B1-5C4D2DED1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412776"/>
            <a:ext cx="7311757" cy="4195481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Combine Cleaned Data Set 1 and Dataset 2 by Power Query and Make New Data Sheet .Remove Duplicates ,Data Cleaning and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Preproces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0AF1016-FF90-BD08-4FA1-E34F690F5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452438"/>
            <a:ext cx="8192268" cy="2400498"/>
          </a:xfrm>
        </p:spPr>
        <p:txBody>
          <a:bodyPr/>
          <a:lstStyle/>
          <a:p>
            <a:r>
              <a:rPr lang="en-IN" sz="4400" b="1" dirty="0">
                <a:latin typeface="Arial" panose="020B0604020202020204" pitchFamily="34" charset="0"/>
                <a:cs typeface="Arial" panose="020B0604020202020204" pitchFamily="34" charset="0"/>
              </a:rPr>
              <a:t>Data Analysis – Dataset A</a:t>
            </a:r>
            <a:r>
              <a:rPr lang="en-IN" sz="4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F09786F-D1AD-C8C2-0B86-004FBCE2A5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8396110"/>
              </p:ext>
            </p:extLst>
          </p:nvPr>
        </p:nvGraphicFramePr>
        <p:xfrm>
          <a:off x="811508" y="3333552"/>
          <a:ext cx="2273300" cy="13430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2926">
                  <a:extLst>
                    <a:ext uri="{9D8B030D-6E8A-4147-A177-3AD203B41FA5}">
                      <a16:colId xmlns:a16="http://schemas.microsoft.com/office/drawing/2014/main" val="1513182753"/>
                    </a:ext>
                  </a:extLst>
                </a:gridCol>
                <a:gridCol w="1270374">
                  <a:extLst>
                    <a:ext uri="{9D8B030D-6E8A-4147-A177-3AD203B41FA5}">
                      <a16:colId xmlns:a16="http://schemas.microsoft.com/office/drawing/2014/main" val="435956108"/>
                    </a:ext>
                  </a:extLst>
                </a:gridCol>
              </a:tblGrid>
              <a:tr h="200025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BY WEATHER SITUATION</a:t>
                      </a:r>
                      <a:endParaRPr lang="en-IN" sz="12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5116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Row Labels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Average of Count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0123786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Sunny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59.71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7120019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Cloudy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53.74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8766058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Rainy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31.13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1227157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Windy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36.00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6167403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Grand Total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55.57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7297017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D6BF06C-1516-1451-9B7D-9526B12127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451549"/>
              </p:ext>
            </p:extLst>
          </p:nvPr>
        </p:nvGraphicFramePr>
        <p:xfrm>
          <a:off x="3289329" y="2640623"/>
          <a:ext cx="1850995" cy="39279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6615">
                  <a:extLst>
                    <a:ext uri="{9D8B030D-6E8A-4147-A177-3AD203B41FA5}">
                      <a16:colId xmlns:a16="http://schemas.microsoft.com/office/drawing/2014/main" val="2272478945"/>
                    </a:ext>
                  </a:extLst>
                </a:gridCol>
                <a:gridCol w="1034380">
                  <a:extLst>
                    <a:ext uri="{9D8B030D-6E8A-4147-A177-3AD203B41FA5}">
                      <a16:colId xmlns:a16="http://schemas.microsoft.com/office/drawing/2014/main" val="1979938427"/>
                    </a:ext>
                  </a:extLst>
                </a:gridCol>
              </a:tblGrid>
              <a:tr h="114919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BY HOUR</a:t>
                      </a:r>
                      <a:endParaRPr lang="en-IN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56" marR="7756" marT="7756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035493"/>
                  </a:ext>
                </a:extLst>
              </a:tr>
              <a:tr h="1094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Row Labels</a:t>
                      </a:r>
                      <a:endParaRPr lang="en-IN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Average of Count</a:t>
                      </a:r>
                      <a:endParaRPr lang="en-IN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1316882231"/>
                  </a:ext>
                </a:extLst>
              </a:tr>
              <a:tr h="1094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14.231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3441497091"/>
                  </a:ext>
                </a:extLst>
              </a:tr>
              <a:tr h="1094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9.192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2281281236"/>
                  </a:ext>
                </a:extLst>
              </a:tr>
              <a:tr h="1094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7.083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1945501738"/>
                  </a:ext>
                </a:extLst>
              </a:tr>
              <a:tr h="1094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4.750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641463740"/>
                  </a:ext>
                </a:extLst>
              </a:tr>
              <a:tr h="1094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1.900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864105073"/>
                  </a:ext>
                </a:extLst>
              </a:tr>
              <a:tr h="1094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3.958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914317868"/>
                  </a:ext>
                </a:extLst>
              </a:tr>
              <a:tr h="1094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18.308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4186409790"/>
                  </a:ext>
                </a:extLst>
              </a:tr>
              <a:tr h="1094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53.577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627924374"/>
                  </a:ext>
                </a:extLst>
              </a:tr>
              <a:tr h="1094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127.615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425821303"/>
                  </a:ext>
                </a:extLst>
              </a:tr>
              <a:tr h="1094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84.462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2174414493"/>
                  </a:ext>
                </a:extLst>
              </a:tr>
              <a:tr h="1094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50.038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1957092904"/>
                  </a:ext>
                </a:extLst>
              </a:tr>
              <a:tr h="1094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55.962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2764072539"/>
                  </a:ext>
                </a:extLst>
              </a:tr>
              <a:tr h="1094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71.704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305863201"/>
                  </a:ext>
                </a:extLst>
              </a:tr>
              <a:tr h="1094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74.630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310752121"/>
                  </a:ext>
                </a:extLst>
              </a:tr>
              <a:tr h="1094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67.667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1417734775"/>
                  </a:ext>
                </a:extLst>
              </a:tr>
              <a:tr h="1094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71.630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3399782614"/>
                  </a:ext>
                </a:extLst>
              </a:tr>
              <a:tr h="1094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81.481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2650699712"/>
                  </a:ext>
                </a:extLst>
              </a:tr>
              <a:tr h="1094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131.481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857446831"/>
                  </a:ext>
                </a:extLst>
              </a:tr>
              <a:tr h="1094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118.538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771977327"/>
                  </a:ext>
                </a:extLst>
              </a:tr>
              <a:tr h="1094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85.115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1316351835"/>
                  </a:ext>
                </a:extLst>
              </a:tr>
              <a:tr h="1094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59.269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89706027"/>
                  </a:ext>
                </a:extLst>
              </a:tr>
              <a:tr h="1094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41.346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311936517"/>
                  </a:ext>
                </a:extLst>
              </a:tr>
              <a:tr h="1094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32.231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2507460425"/>
                  </a:ext>
                </a:extLst>
              </a:tr>
              <a:tr h="1094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21.538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3095695089"/>
                  </a:ext>
                </a:extLst>
              </a:tr>
              <a:tr h="1094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Grand Total</a:t>
                      </a:r>
                      <a:endParaRPr lang="en-IN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56" marR="7756" marT="775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55.570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56" marR="7756" marT="7756" marB="0" anchor="b"/>
                </a:tc>
                <a:extLst>
                  <a:ext uri="{0D108BD9-81ED-4DB2-BD59-A6C34878D82A}">
                    <a16:rowId xmlns:a16="http://schemas.microsoft.com/office/drawing/2014/main" val="317149857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10F30B5-E2D8-4F85-6B9C-29C0609887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0109642"/>
              </p:ext>
            </p:extLst>
          </p:nvPr>
        </p:nvGraphicFramePr>
        <p:xfrm>
          <a:off x="5344845" y="2696654"/>
          <a:ext cx="2451100" cy="20688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54304">
                  <a:extLst>
                    <a:ext uri="{9D8B030D-6E8A-4147-A177-3AD203B41FA5}">
                      <a16:colId xmlns:a16="http://schemas.microsoft.com/office/drawing/2014/main" val="2770603864"/>
                    </a:ext>
                  </a:extLst>
                </a:gridCol>
                <a:gridCol w="1096796">
                  <a:extLst>
                    <a:ext uri="{9D8B030D-6E8A-4147-A177-3AD203B41FA5}">
                      <a16:colId xmlns:a16="http://schemas.microsoft.com/office/drawing/2014/main" val="1552438900"/>
                    </a:ext>
                  </a:extLst>
                </a:gridCol>
              </a:tblGrid>
              <a:tr h="200025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BY WEEKDAYS       </a:t>
                      </a:r>
                      <a:endParaRPr lang="en-IN" sz="12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588112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Row Labels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Average of Count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986368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Sunday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40.6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04211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Monday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54.7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7450726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Tuesday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68.7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6480739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Wednesday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58.5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4996308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Thursday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68.0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4897462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Friday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59.4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840719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Saturday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43.9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4776957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Grand Total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55.6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1781369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7047565-FB5B-1E54-1CF3-A6936B601C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5534844"/>
              </p:ext>
            </p:extLst>
          </p:nvPr>
        </p:nvGraphicFramePr>
        <p:xfrm>
          <a:off x="5431863" y="4954842"/>
          <a:ext cx="1968500" cy="13068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74889">
                  <a:extLst>
                    <a:ext uri="{9D8B030D-6E8A-4147-A177-3AD203B41FA5}">
                      <a16:colId xmlns:a16="http://schemas.microsoft.com/office/drawing/2014/main" val="4218483853"/>
                    </a:ext>
                  </a:extLst>
                </a:gridCol>
                <a:gridCol w="1093611">
                  <a:extLst>
                    <a:ext uri="{9D8B030D-6E8A-4147-A177-3AD203B41FA5}">
                      <a16:colId xmlns:a16="http://schemas.microsoft.com/office/drawing/2014/main" val="3391760984"/>
                    </a:ext>
                  </a:extLst>
                </a:gridCol>
              </a:tblGrid>
              <a:tr h="200025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BY HOLIDAY</a:t>
                      </a:r>
                      <a:endParaRPr lang="en-IN" sz="12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1218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5616593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Row Labels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Average of Count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8666336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FALSE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56.14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3706596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TRUE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41.67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333384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Grand Total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55.57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039541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547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8DB2E-9A21-AB67-16F6-BB3A1360F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079" y="382288"/>
            <a:ext cx="6912768" cy="5112568"/>
          </a:xfrm>
        </p:spPr>
        <p:txBody>
          <a:bodyPr>
            <a:normAutofit fontScale="925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By Pivot Table Analysis Make analysis Average Count of Bike Users by Weather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i.e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Sunny,Cloudy,Rainy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&amp; Windy.</a:t>
            </a:r>
          </a:p>
          <a:p>
            <a:pPr lvl="0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Overall average: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The average bike count is approximately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55.57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By weather: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Sunny weather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has the highest average count (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59.71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), followed by Cloudy (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53.74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). Rainy weather has the lowest (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31.13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lvl="0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By weekdays: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Tuesday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has the highest average count (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68.7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), while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Sunday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has the lowest (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40.6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lvl="0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By holiday: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Bike usage is substantially higher on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non-holidays (56.14)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than on holidays (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41.67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lvl="0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Business implication: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Bike-sharing operators should ensure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higher bike availability during peak commuting hours and on weekdays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, while demand-based redistribution could be useful during low-demand periods.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4" name="Rounded Rectangle 9">
            <a:extLst>
              <a:ext uri="{FF2B5EF4-FFF2-40B4-BE49-F238E27FC236}">
                <a16:creationId xmlns:a16="http://schemas.microsoft.com/office/drawing/2014/main" id="{99C8DF8F-BF0A-9388-3720-143C237E207F}"/>
              </a:ext>
            </a:extLst>
          </p:cNvPr>
          <p:cNvSpPr/>
          <p:nvPr/>
        </p:nvSpPr>
        <p:spPr>
          <a:xfrm>
            <a:off x="612393" y="5805263"/>
            <a:ext cx="1260844" cy="653824"/>
          </a:xfrm>
          <a:prstGeom prst="roundRect">
            <a:avLst/>
          </a:prstGeom>
          <a:solidFill>
            <a:srgbClr val="E1F2F4"/>
          </a:solidFill>
          <a:ln>
            <a:solidFill>
              <a:srgbClr val="00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4263F"/>
                </a:solidFill>
                <a:latin typeface="Aptos Display"/>
              </a:defRPr>
            </a:pPr>
            <a:r>
              <a:rPr dirty="0"/>
              <a:t>55.57</a:t>
            </a:r>
          </a:p>
          <a:p>
            <a:pPr algn="ctr">
              <a:defRPr sz="800">
                <a:solidFill>
                  <a:srgbClr val="5F6C7A"/>
                </a:solidFill>
                <a:latin typeface="Aptos"/>
              </a:defRPr>
            </a:pPr>
            <a:r>
              <a:rPr dirty="0"/>
              <a:t>Overall avg. count</a:t>
            </a:r>
          </a:p>
        </p:txBody>
      </p:sp>
      <p:sp>
        <p:nvSpPr>
          <p:cNvPr id="6" name="Rounded Rectangle 10">
            <a:extLst>
              <a:ext uri="{FF2B5EF4-FFF2-40B4-BE49-F238E27FC236}">
                <a16:creationId xmlns:a16="http://schemas.microsoft.com/office/drawing/2014/main" id="{385B1D8B-CDAB-C0E9-F25E-92CDB2763A25}"/>
              </a:ext>
            </a:extLst>
          </p:cNvPr>
          <p:cNvSpPr/>
          <p:nvPr/>
        </p:nvSpPr>
        <p:spPr>
          <a:xfrm>
            <a:off x="4182463" y="5742077"/>
            <a:ext cx="1628603" cy="717010"/>
          </a:xfrm>
          <a:prstGeom prst="roundRect">
            <a:avLst/>
          </a:prstGeom>
          <a:solidFill>
            <a:srgbClr val="E1F2F4"/>
          </a:solidFill>
          <a:ln>
            <a:solidFill>
              <a:srgbClr val="00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4263F"/>
                </a:solidFill>
                <a:latin typeface="Aptos Display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59.71</a:t>
            </a:r>
          </a:p>
          <a:p>
            <a:pPr algn="ctr">
              <a:defRPr sz="800">
                <a:solidFill>
                  <a:srgbClr val="5F6C7A"/>
                </a:solidFill>
                <a:latin typeface="Aptos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Sunny avg. count</a:t>
            </a:r>
          </a:p>
        </p:txBody>
      </p:sp>
      <p:sp>
        <p:nvSpPr>
          <p:cNvPr id="8" name="Rounded Rectangle 11">
            <a:extLst>
              <a:ext uri="{FF2B5EF4-FFF2-40B4-BE49-F238E27FC236}">
                <a16:creationId xmlns:a16="http://schemas.microsoft.com/office/drawing/2014/main" id="{4649DB60-4412-44CE-E2F2-B3DEBBB012ED}"/>
              </a:ext>
            </a:extLst>
          </p:cNvPr>
          <p:cNvSpPr/>
          <p:nvPr/>
        </p:nvSpPr>
        <p:spPr>
          <a:xfrm>
            <a:off x="2283478" y="5777173"/>
            <a:ext cx="1628603" cy="681914"/>
          </a:xfrm>
          <a:prstGeom prst="roundRect">
            <a:avLst/>
          </a:prstGeom>
          <a:solidFill>
            <a:srgbClr val="E1F2F4"/>
          </a:solidFill>
          <a:ln>
            <a:solidFill>
              <a:srgbClr val="00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4263F"/>
                </a:solidFill>
                <a:latin typeface="Aptos Display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131.48</a:t>
            </a:r>
          </a:p>
          <a:p>
            <a:pPr algn="ctr">
              <a:defRPr sz="800">
                <a:solidFill>
                  <a:srgbClr val="5F6C7A"/>
                </a:solidFill>
                <a:latin typeface="Aptos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Peak-hour avg. count</a:t>
            </a:r>
          </a:p>
        </p:txBody>
      </p:sp>
      <p:sp>
        <p:nvSpPr>
          <p:cNvPr id="10" name="Rounded Rectangle 12">
            <a:extLst>
              <a:ext uri="{FF2B5EF4-FFF2-40B4-BE49-F238E27FC236}">
                <a16:creationId xmlns:a16="http://schemas.microsoft.com/office/drawing/2014/main" id="{FAE2ABCB-C846-86EC-8912-C62FDB7356BF}"/>
              </a:ext>
            </a:extLst>
          </p:cNvPr>
          <p:cNvSpPr/>
          <p:nvPr/>
        </p:nvSpPr>
        <p:spPr>
          <a:xfrm>
            <a:off x="6039741" y="5742077"/>
            <a:ext cx="1628603" cy="681913"/>
          </a:xfrm>
          <a:prstGeom prst="roundRect">
            <a:avLst/>
          </a:prstGeom>
          <a:solidFill>
            <a:srgbClr val="E1F2F4"/>
          </a:solidFill>
          <a:ln>
            <a:solidFill>
              <a:srgbClr val="00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4263F"/>
                </a:solidFill>
                <a:latin typeface="Aptos Display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68.7</a:t>
            </a:r>
          </a:p>
          <a:p>
            <a:pPr algn="ctr">
              <a:defRPr sz="800">
                <a:solidFill>
                  <a:srgbClr val="5F6C7A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Highest weekday avg.</a:t>
            </a:r>
          </a:p>
        </p:txBody>
      </p:sp>
    </p:spTree>
    <p:extLst>
      <p:ext uri="{BB962C8B-B14F-4D97-AF65-F5344CB8AC3E}">
        <p14:creationId xmlns:p14="http://schemas.microsoft.com/office/powerpoint/2010/main" val="1056317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36A42-387A-F784-432D-B6079C8A5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b="1" dirty="0">
                <a:latin typeface="Arial" panose="020B0604020202020204" pitchFamily="34" charset="0"/>
                <a:cs typeface="Arial" panose="020B0604020202020204" pitchFamily="34" charset="0"/>
              </a:rPr>
              <a:t>Data Analysis – </a:t>
            </a:r>
            <a:r>
              <a:rPr lang="en-IN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FinalDataset</a:t>
            </a:r>
            <a:r>
              <a:rPr lang="en-IN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1FF6375-389A-1A4A-6E90-B0BDF32123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7920251"/>
              </p:ext>
            </p:extLst>
          </p:nvPr>
        </p:nvGraphicFramePr>
        <p:xfrm>
          <a:off x="179512" y="1596423"/>
          <a:ext cx="4608511" cy="1400529"/>
        </p:xfrm>
        <a:graphic>
          <a:graphicData uri="http://schemas.openxmlformats.org/drawingml/2006/table">
            <a:tbl>
              <a:tblPr/>
              <a:tblGrid>
                <a:gridCol w="1065409">
                  <a:extLst>
                    <a:ext uri="{9D8B030D-6E8A-4147-A177-3AD203B41FA5}">
                      <a16:colId xmlns:a16="http://schemas.microsoft.com/office/drawing/2014/main" val="3805616990"/>
                    </a:ext>
                  </a:extLst>
                </a:gridCol>
                <a:gridCol w="982819">
                  <a:extLst>
                    <a:ext uri="{9D8B030D-6E8A-4147-A177-3AD203B41FA5}">
                      <a16:colId xmlns:a16="http://schemas.microsoft.com/office/drawing/2014/main" val="2783882195"/>
                    </a:ext>
                  </a:extLst>
                </a:gridCol>
                <a:gridCol w="1370990">
                  <a:extLst>
                    <a:ext uri="{9D8B030D-6E8A-4147-A177-3AD203B41FA5}">
                      <a16:colId xmlns:a16="http://schemas.microsoft.com/office/drawing/2014/main" val="2819206114"/>
                    </a:ext>
                  </a:extLst>
                </a:gridCol>
                <a:gridCol w="1189293">
                  <a:extLst>
                    <a:ext uri="{9D8B030D-6E8A-4147-A177-3AD203B41FA5}">
                      <a16:colId xmlns:a16="http://schemas.microsoft.com/office/drawing/2014/main" val="1430526232"/>
                    </a:ext>
                  </a:extLst>
                </a:gridCol>
              </a:tblGrid>
              <a:tr h="511305">
                <a:tc gridSpan="4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Monthwise</a:t>
                      </a:r>
                      <a:r>
                        <a:rPr lang="en-IN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N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Temprature</a:t>
                      </a:r>
                      <a:r>
                        <a:rPr lang="en-IN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,</a:t>
                      </a:r>
                      <a:r>
                        <a:rPr lang="en-IN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Humidity,Windspeed</a:t>
                      </a:r>
                      <a:endParaRPr lang="en-IN" sz="11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8995679"/>
                  </a:ext>
                </a:extLst>
              </a:tr>
              <a:tr h="2223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Row Labels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Sum of Temp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Sum of Windspeed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Sum of Humidity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74907108"/>
                  </a:ext>
                </a:extLst>
              </a:tr>
              <a:tr h="2223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January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135.82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135.9216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394.95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530543443"/>
                  </a:ext>
                </a:extLst>
              </a:tr>
              <a:tr h="2223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February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70.08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59.0616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187.53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623366437"/>
                  </a:ext>
                </a:extLst>
              </a:tr>
              <a:tr h="2223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Grand Total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205.9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194.9832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582.48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7443172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2DFFA8F-277E-CBB8-FA2C-2B1011624D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5317471"/>
              </p:ext>
            </p:extLst>
          </p:nvPr>
        </p:nvGraphicFramePr>
        <p:xfrm>
          <a:off x="4932040" y="1394074"/>
          <a:ext cx="4065704" cy="534728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5625">
                  <a:extLst>
                    <a:ext uri="{9D8B030D-6E8A-4147-A177-3AD203B41FA5}">
                      <a16:colId xmlns:a16="http://schemas.microsoft.com/office/drawing/2014/main" val="3909845371"/>
                    </a:ext>
                  </a:extLst>
                </a:gridCol>
                <a:gridCol w="951402">
                  <a:extLst>
                    <a:ext uri="{9D8B030D-6E8A-4147-A177-3AD203B41FA5}">
                      <a16:colId xmlns:a16="http://schemas.microsoft.com/office/drawing/2014/main" val="4275550670"/>
                    </a:ext>
                  </a:extLst>
                </a:gridCol>
                <a:gridCol w="1218342">
                  <a:extLst>
                    <a:ext uri="{9D8B030D-6E8A-4147-A177-3AD203B41FA5}">
                      <a16:colId xmlns:a16="http://schemas.microsoft.com/office/drawing/2014/main" val="3635618583"/>
                    </a:ext>
                  </a:extLst>
                </a:gridCol>
                <a:gridCol w="910335">
                  <a:extLst>
                    <a:ext uri="{9D8B030D-6E8A-4147-A177-3AD203B41FA5}">
                      <a16:colId xmlns:a16="http://schemas.microsoft.com/office/drawing/2014/main" val="3809098319"/>
                    </a:ext>
                  </a:extLst>
                </a:gridCol>
              </a:tblGrid>
              <a:tr h="408556">
                <a:tc gridSpan="4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Hourly wise  Users 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7385719"/>
                  </a:ext>
                </a:extLst>
              </a:tr>
              <a:tr h="1899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Row Labels</a:t>
                      </a:r>
                      <a:endParaRPr lang="en-IN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Sum of Casual</a:t>
                      </a:r>
                      <a:endParaRPr lang="en-IN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Sum of Registered</a:t>
                      </a:r>
                      <a:endParaRPr lang="en-IN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Sum of Count</a:t>
                      </a:r>
                      <a:endParaRPr lang="en-IN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extLst>
                  <a:ext uri="{0D108BD9-81ED-4DB2-BD59-A6C34878D82A}">
                    <a16:rowId xmlns:a16="http://schemas.microsoft.com/office/drawing/2014/main" val="3592485229"/>
                  </a:ext>
                </a:extLst>
              </a:tr>
              <a:tr h="1899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74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629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703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extLst>
                  <a:ext uri="{0D108BD9-81ED-4DB2-BD59-A6C34878D82A}">
                    <a16:rowId xmlns:a16="http://schemas.microsoft.com/office/drawing/2014/main" val="2984520398"/>
                  </a:ext>
                </a:extLst>
              </a:tr>
              <a:tr h="1899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412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460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extLst>
                  <a:ext uri="{0D108BD9-81ED-4DB2-BD59-A6C34878D82A}">
                    <a16:rowId xmlns:a16="http://schemas.microsoft.com/office/drawing/2014/main" val="1638380625"/>
                  </a:ext>
                </a:extLst>
              </a:tr>
              <a:tr h="1899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261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294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extLst>
                  <a:ext uri="{0D108BD9-81ED-4DB2-BD59-A6C34878D82A}">
                    <a16:rowId xmlns:a16="http://schemas.microsoft.com/office/drawing/2014/main" val="1898389672"/>
                  </a:ext>
                </a:extLst>
              </a:tr>
              <a:tr h="1899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117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151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extLst>
                  <a:ext uri="{0D108BD9-81ED-4DB2-BD59-A6C34878D82A}">
                    <a16:rowId xmlns:a16="http://schemas.microsoft.com/office/drawing/2014/main" val="3354470857"/>
                  </a:ext>
                </a:extLst>
              </a:tr>
              <a:tr h="1899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62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69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extLst>
                  <a:ext uri="{0D108BD9-81ED-4DB2-BD59-A6C34878D82A}">
                    <a16:rowId xmlns:a16="http://schemas.microsoft.com/office/drawing/2014/main" val="2218171648"/>
                  </a:ext>
                </a:extLst>
              </a:tr>
              <a:tr h="1899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161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164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extLst>
                  <a:ext uri="{0D108BD9-81ED-4DB2-BD59-A6C34878D82A}">
                    <a16:rowId xmlns:a16="http://schemas.microsoft.com/office/drawing/2014/main" val="1287253091"/>
                  </a:ext>
                </a:extLst>
              </a:tr>
              <a:tr h="1899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801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822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extLst>
                  <a:ext uri="{0D108BD9-81ED-4DB2-BD59-A6C34878D82A}">
                    <a16:rowId xmlns:a16="http://schemas.microsoft.com/office/drawing/2014/main" val="3722233687"/>
                  </a:ext>
                </a:extLst>
              </a:tr>
              <a:tr h="1899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64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2275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2339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extLst>
                  <a:ext uri="{0D108BD9-81ED-4DB2-BD59-A6C34878D82A}">
                    <a16:rowId xmlns:a16="http://schemas.microsoft.com/office/drawing/2014/main" val="991810676"/>
                  </a:ext>
                </a:extLst>
              </a:tr>
              <a:tr h="1899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127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5261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5388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extLst>
                  <a:ext uri="{0D108BD9-81ED-4DB2-BD59-A6C34878D82A}">
                    <a16:rowId xmlns:a16="http://schemas.microsoft.com/office/drawing/2014/main" val="1449368668"/>
                  </a:ext>
                </a:extLst>
              </a:tr>
              <a:tr h="1899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172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3500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3672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extLst>
                  <a:ext uri="{0D108BD9-81ED-4DB2-BD59-A6C34878D82A}">
                    <a16:rowId xmlns:a16="http://schemas.microsoft.com/office/drawing/2014/main" val="4131049528"/>
                  </a:ext>
                </a:extLst>
              </a:tr>
              <a:tr h="1899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216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2037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2253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extLst>
                  <a:ext uri="{0D108BD9-81ED-4DB2-BD59-A6C34878D82A}">
                    <a16:rowId xmlns:a16="http://schemas.microsoft.com/office/drawing/2014/main" val="1727629847"/>
                  </a:ext>
                </a:extLst>
              </a:tr>
              <a:tr h="1899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367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2127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2494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extLst>
                  <a:ext uri="{0D108BD9-81ED-4DB2-BD59-A6C34878D82A}">
                    <a16:rowId xmlns:a16="http://schemas.microsoft.com/office/drawing/2014/main" val="2112437882"/>
                  </a:ext>
                </a:extLst>
              </a:tr>
              <a:tr h="1899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482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2801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3283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extLst>
                  <a:ext uri="{0D108BD9-81ED-4DB2-BD59-A6C34878D82A}">
                    <a16:rowId xmlns:a16="http://schemas.microsoft.com/office/drawing/2014/main" val="2025165730"/>
                  </a:ext>
                </a:extLst>
              </a:tr>
              <a:tr h="1899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513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2863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3376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extLst>
                  <a:ext uri="{0D108BD9-81ED-4DB2-BD59-A6C34878D82A}">
                    <a16:rowId xmlns:a16="http://schemas.microsoft.com/office/drawing/2014/main" val="2924577252"/>
                  </a:ext>
                </a:extLst>
              </a:tr>
              <a:tr h="1899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466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2734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3200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extLst>
                  <a:ext uri="{0D108BD9-81ED-4DB2-BD59-A6C34878D82A}">
                    <a16:rowId xmlns:a16="http://schemas.microsoft.com/office/drawing/2014/main" val="833514299"/>
                  </a:ext>
                </a:extLst>
              </a:tr>
              <a:tr h="1899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536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2816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3352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extLst>
                  <a:ext uri="{0D108BD9-81ED-4DB2-BD59-A6C34878D82A}">
                    <a16:rowId xmlns:a16="http://schemas.microsoft.com/office/drawing/2014/main" val="2820174731"/>
                  </a:ext>
                </a:extLst>
              </a:tr>
              <a:tr h="1899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493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3435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3928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extLst>
                  <a:ext uri="{0D108BD9-81ED-4DB2-BD59-A6C34878D82A}">
                    <a16:rowId xmlns:a16="http://schemas.microsoft.com/office/drawing/2014/main" val="2284791548"/>
                  </a:ext>
                </a:extLst>
              </a:tr>
              <a:tr h="1899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395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5774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6169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extLst>
                  <a:ext uri="{0D108BD9-81ED-4DB2-BD59-A6C34878D82A}">
                    <a16:rowId xmlns:a16="http://schemas.microsoft.com/office/drawing/2014/main" val="3954275257"/>
                  </a:ext>
                </a:extLst>
              </a:tr>
              <a:tr h="1899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222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5061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5283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extLst>
                  <a:ext uri="{0D108BD9-81ED-4DB2-BD59-A6C34878D82A}">
                    <a16:rowId xmlns:a16="http://schemas.microsoft.com/office/drawing/2014/main" val="1085735198"/>
                  </a:ext>
                </a:extLst>
              </a:tr>
              <a:tr h="1899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187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3474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3661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extLst>
                  <a:ext uri="{0D108BD9-81ED-4DB2-BD59-A6C34878D82A}">
                    <a16:rowId xmlns:a16="http://schemas.microsoft.com/office/drawing/2014/main" val="1608369070"/>
                  </a:ext>
                </a:extLst>
              </a:tr>
              <a:tr h="1899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2516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2656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extLst>
                  <a:ext uri="{0D108BD9-81ED-4DB2-BD59-A6C34878D82A}">
                    <a16:rowId xmlns:a16="http://schemas.microsoft.com/office/drawing/2014/main" val="1677664158"/>
                  </a:ext>
                </a:extLst>
              </a:tr>
              <a:tr h="1899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117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1879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1996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extLst>
                  <a:ext uri="{0D108BD9-81ED-4DB2-BD59-A6C34878D82A}">
                    <a16:rowId xmlns:a16="http://schemas.microsoft.com/office/drawing/2014/main" val="2129721234"/>
                  </a:ext>
                </a:extLst>
              </a:tr>
              <a:tr h="1899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103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1405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1508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extLst>
                  <a:ext uri="{0D108BD9-81ED-4DB2-BD59-A6C34878D82A}">
                    <a16:rowId xmlns:a16="http://schemas.microsoft.com/office/drawing/2014/main" val="2514058443"/>
                  </a:ext>
                </a:extLst>
              </a:tr>
              <a:tr h="1899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101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982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1083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extLst>
                  <a:ext uri="{0D108BD9-81ED-4DB2-BD59-A6C34878D82A}">
                    <a16:rowId xmlns:a16="http://schemas.microsoft.com/office/drawing/2014/main" val="2346325151"/>
                  </a:ext>
                </a:extLst>
              </a:tr>
              <a:tr h="1899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Grand Total</a:t>
                      </a:r>
                      <a:endParaRPr lang="en-IN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4921</a:t>
                      </a:r>
                      <a:endParaRPr lang="en-IN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53383</a:t>
                      </a:r>
                      <a:endParaRPr lang="en-IN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58304</a:t>
                      </a:r>
                      <a:endParaRPr lang="en-IN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3" marR="7413" marT="7413" marB="0" anchor="b"/>
                </a:tc>
                <a:extLst>
                  <a:ext uri="{0D108BD9-81ED-4DB2-BD59-A6C34878D82A}">
                    <a16:rowId xmlns:a16="http://schemas.microsoft.com/office/drawing/2014/main" val="3031225338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DC78B01-D167-97FC-5389-6803BBE656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6089646"/>
              </p:ext>
            </p:extLst>
          </p:nvPr>
        </p:nvGraphicFramePr>
        <p:xfrm>
          <a:off x="146255" y="3091914"/>
          <a:ext cx="4608510" cy="12001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32776">
                  <a:extLst>
                    <a:ext uri="{9D8B030D-6E8A-4147-A177-3AD203B41FA5}">
                      <a16:colId xmlns:a16="http://schemas.microsoft.com/office/drawing/2014/main" val="4130792749"/>
                    </a:ext>
                  </a:extLst>
                </a:gridCol>
                <a:gridCol w="2075734">
                  <a:extLst>
                    <a:ext uri="{9D8B030D-6E8A-4147-A177-3AD203B41FA5}">
                      <a16:colId xmlns:a16="http://schemas.microsoft.com/office/drawing/2014/main" val="165098381"/>
                    </a:ext>
                  </a:extLst>
                </a:gridCol>
              </a:tblGrid>
              <a:tr h="438150">
                <a:tc gridSpan="2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Of Holiday </a:t>
                      </a:r>
                      <a:endParaRPr lang="en-IN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59719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Row Labels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Count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1351496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Holiday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976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7890938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Holiday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3166669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Grand Total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1000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84478764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B1046BE-3AFE-9934-0829-0D849C7D71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1583335"/>
              </p:ext>
            </p:extLst>
          </p:nvPr>
        </p:nvGraphicFramePr>
        <p:xfrm>
          <a:off x="146256" y="4475292"/>
          <a:ext cx="4608510" cy="16572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6217">
                  <a:extLst>
                    <a:ext uri="{9D8B030D-6E8A-4147-A177-3AD203B41FA5}">
                      <a16:colId xmlns:a16="http://schemas.microsoft.com/office/drawing/2014/main" val="2299422855"/>
                    </a:ext>
                  </a:extLst>
                </a:gridCol>
                <a:gridCol w="1427826">
                  <a:extLst>
                    <a:ext uri="{9D8B030D-6E8A-4147-A177-3AD203B41FA5}">
                      <a16:colId xmlns:a16="http://schemas.microsoft.com/office/drawing/2014/main" val="3021540141"/>
                    </a:ext>
                  </a:extLst>
                </a:gridCol>
                <a:gridCol w="1764467">
                  <a:extLst>
                    <a:ext uri="{9D8B030D-6E8A-4147-A177-3AD203B41FA5}">
                      <a16:colId xmlns:a16="http://schemas.microsoft.com/office/drawing/2014/main" val="1467388193"/>
                    </a:ext>
                  </a:extLst>
                </a:gridCol>
              </a:tblGrid>
              <a:tr h="605016">
                <a:tc gridSpan="3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00" u="none" strike="noStrike" dirty="0" err="1">
                          <a:effectLst/>
                        </a:rPr>
                        <a:t>MonthWise</a:t>
                      </a:r>
                      <a:r>
                        <a:rPr lang="en-IN" sz="1000" u="none" strike="noStrike" dirty="0">
                          <a:effectLst/>
                        </a:rPr>
                        <a:t> Users</a:t>
                      </a:r>
                      <a:endParaRPr lang="en-IN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2947627"/>
                  </a:ext>
                </a:extLst>
              </a:tr>
              <a:tr h="2630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Row Labels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Sum of Casual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Sum of Registered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33829290"/>
                  </a:ext>
                </a:extLst>
              </a:tr>
              <a:tr h="2630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January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3073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35116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53567649"/>
                  </a:ext>
                </a:extLst>
              </a:tr>
              <a:tr h="2630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February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1848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18267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92774288"/>
                  </a:ext>
                </a:extLst>
              </a:tr>
              <a:tr h="2630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Grand Total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4921</a:t>
                      </a:r>
                      <a:endParaRPr lang="en-IN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u="none" strike="noStrike" dirty="0">
                          <a:effectLst/>
                        </a:rPr>
                        <a:t>53383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797324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0927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3FE09-D3C9-A9D8-E199-FB528F4C2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584684"/>
            <a:ext cx="8892480" cy="594066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sz="2900" b="1" dirty="0" err="1">
                <a:latin typeface="Arial" panose="020B0604020202020204" pitchFamily="34" charset="0"/>
                <a:cs typeface="Arial" panose="020B0604020202020204" pitchFamily="34" charset="0"/>
              </a:rPr>
              <a:t>Monthwise</a:t>
            </a:r>
            <a:r>
              <a:rPr lang="en-IN" sz="2900" b="1" dirty="0">
                <a:latin typeface="Arial" panose="020B0604020202020204" pitchFamily="34" charset="0"/>
                <a:cs typeface="Arial" panose="020B0604020202020204" pitchFamily="34" charset="0"/>
              </a:rPr>
              <a:t> Temperature, Humidity, and Windspeed</a:t>
            </a:r>
            <a:r>
              <a:rPr lang="en-IN" sz="2500" b="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</a:p>
          <a:p>
            <a:pPr marL="0" indent="0">
              <a:buNone/>
            </a:pP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 January vs. February: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January higher aggregate metrics across all three variables: Sum of Temp (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135.82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vs. 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70.08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), Sum of Windspeed (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135.9216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vs.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59.0616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), and Sum of Humidity (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394.95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vs.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187.53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0" lvl="0" indent="0">
              <a:buNone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        Totals: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The grand totals across both months stand at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205.9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for Temp,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194.9832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for Windspeed, and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582.48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for Humidity.</a:t>
            </a:r>
          </a:p>
          <a:p>
            <a:pPr marL="0" indent="0">
              <a:buNone/>
            </a:pPr>
            <a:r>
              <a:rPr lang="en-IN" sz="2900" b="1" dirty="0">
                <a:latin typeface="Arial" panose="020B0604020202020204" pitchFamily="34" charset="0"/>
                <a:cs typeface="Arial" panose="020B0604020202020204" pitchFamily="34" charset="0"/>
              </a:rPr>
              <a:t>No Of Holiday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Distribution: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Non-holiday counts overwhelmingly dominate at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976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(97.6% of total records), compared to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holidays (2.4%), yielding a total count of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1,000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en-IN" sz="2900" b="1" dirty="0" err="1">
                <a:latin typeface="Arial" panose="020B0604020202020204" pitchFamily="34" charset="0"/>
                <a:cs typeface="Arial" panose="020B0604020202020204" pitchFamily="34" charset="0"/>
              </a:rPr>
              <a:t>MonthWise</a:t>
            </a:r>
            <a:r>
              <a:rPr lang="en-IN" sz="2900" b="1" dirty="0">
                <a:latin typeface="Arial" panose="020B0604020202020204" pitchFamily="34" charset="0"/>
                <a:cs typeface="Arial" panose="020B0604020202020204" pitchFamily="34" charset="0"/>
              </a:rPr>
              <a:t> Users</a:t>
            </a:r>
            <a:endParaRPr lang="en-IN" sz="2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User Volume: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January significantly outperforms February in both user segments, with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3,073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Casual users and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35,116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Registered users (total: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38,189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), compared to February's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1,848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Casual users and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18,267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Registered users (total: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20,115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User Type Ratio: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Registered users make up the vast majority (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53,383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total / 91.6%) of overall user volume compared to Casual users (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4,921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total / 8.4%).</a:t>
            </a:r>
          </a:p>
          <a:p>
            <a:pPr marL="0" indent="0">
              <a:buNone/>
            </a:pPr>
            <a:r>
              <a:rPr lang="en-IN" sz="2900" b="1" dirty="0">
                <a:latin typeface="Arial" panose="020B0604020202020204" pitchFamily="34" charset="0"/>
                <a:cs typeface="Arial" panose="020B0604020202020204" pitchFamily="34" charset="0"/>
              </a:rPr>
              <a:t>Hourly Wise Users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Peak Hours: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Peak user traffic occurs during commuting hours, specifically hour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17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with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6,169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total users (5,774 registered) and hour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with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5,388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total users (5,261 registered), followed closely by hour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with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5,283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total users.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Low Traffic Hours: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Traffic reaches its lowest point during early morning hours, dropping to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69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total users at hour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) and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151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total users at hour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0" lvl="0" indent="0">
              <a:buNone/>
            </a:pPr>
            <a:r>
              <a:rPr lang="en-IN" sz="3300" b="1" dirty="0">
                <a:latin typeface="Arial" panose="020B0604020202020204" pitchFamily="34" charset="0"/>
                <a:cs typeface="Arial" panose="020B0604020202020204" pitchFamily="34" charset="0"/>
              </a:rPr>
              <a:t>Casual vs. Registered </a:t>
            </a:r>
            <a:r>
              <a:rPr lang="en-IN" sz="3300" b="1" dirty="0" err="1">
                <a:latin typeface="Arial" panose="020B0604020202020204" pitchFamily="34" charset="0"/>
                <a:cs typeface="Arial" panose="020B0604020202020204" pitchFamily="34" charset="0"/>
              </a:rPr>
              <a:t>Behavior</a:t>
            </a:r>
            <a:r>
              <a:rPr lang="en-IN" sz="33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IN" sz="3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Grand Total: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Overall hourly user volume totals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58,304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4,921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casual +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53,383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registered).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77928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6023D53-6AF2-339A-2BBF-FE62E7D5A6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6671889"/>
              </p:ext>
            </p:extLst>
          </p:nvPr>
        </p:nvGraphicFramePr>
        <p:xfrm>
          <a:off x="539749" y="1052736"/>
          <a:ext cx="7560645" cy="504056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2658">
                  <a:extLst>
                    <a:ext uri="{9D8B030D-6E8A-4147-A177-3AD203B41FA5}">
                      <a16:colId xmlns:a16="http://schemas.microsoft.com/office/drawing/2014/main" val="544701345"/>
                    </a:ext>
                  </a:extLst>
                </a:gridCol>
                <a:gridCol w="1085553">
                  <a:extLst>
                    <a:ext uri="{9D8B030D-6E8A-4147-A177-3AD203B41FA5}">
                      <a16:colId xmlns:a16="http://schemas.microsoft.com/office/drawing/2014/main" val="4064834571"/>
                    </a:ext>
                  </a:extLst>
                </a:gridCol>
                <a:gridCol w="489263">
                  <a:extLst>
                    <a:ext uri="{9D8B030D-6E8A-4147-A177-3AD203B41FA5}">
                      <a16:colId xmlns:a16="http://schemas.microsoft.com/office/drawing/2014/main" val="1362700867"/>
                    </a:ext>
                  </a:extLst>
                </a:gridCol>
                <a:gridCol w="489263">
                  <a:extLst>
                    <a:ext uri="{9D8B030D-6E8A-4147-A177-3AD203B41FA5}">
                      <a16:colId xmlns:a16="http://schemas.microsoft.com/office/drawing/2014/main" val="970364047"/>
                    </a:ext>
                  </a:extLst>
                </a:gridCol>
                <a:gridCol w="932658">
                  <a:extLst>
                    <a:ext uri="{9D8B030D-6E8A-4147-A177-3AD203B41FA5}">
                      <a16:colId xmlns:a16="http://schemas.microsoft.com/office/drawing/2014/main" val="2842421737"/>
                    </a:ext>
                  </a:extLst>
                </a:gridCol>
                <a:gridCol w="1085553">
                  <a:extLst>
                    <a:ext uri="{9D8B030D-6E8A-4147-A177-3AD203B41FA5}">
                      <a16:colId xmlns:a16="http://schemas.microsoft.com/office/drawing/2014/main" val="3694009945"/>
                    </a:ext>
                  </a:extLst>
                </a:gridCol>
                <a:gridCol w="489263">
                  <a:extLst>
                    <a:ext uri="{9D8B030D-6E8A-4147-A177-3AD203B41FA5}">
                      <a16:colId xmlns:a16="http://schemas.microsoft.com/office/drawing/2014/main" val="4238230746"/>
                    </a:ext>
                  </a:extLst>
                </a:gridCol>
                <a:gridCol w="932658">
                  <a:extLst>
                    <a:ext uri="{9D8B030D-6E8A-4147-A177-3AD203B41FA5}">
                      <a16:colId xmlns:a16="http://schemas.microsoft.com/office/drawing/2014/main" val="2061261140"/>
                    </a:ext>
                  </a:extLst>
                </a:gridCol>
                <a:gridCol w="1123776">
                  <a:extLst>
                    <a:ext uri="{9D8B030D-6E8A-4147-A177-3AD203B41FA5}">
                      <a16:colId xmlns:a16="http://schemas.microsoft.com/office/drawing/2014/main" val="4097886068"/>
                    </a:ext>
                  </a:extLst>
                </a:gridCol>
              </a:tblGrid>
              <a:tr h="409655">
                <a:tc gridSpan="2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700" u="none" strike="noStrike" dirty="0">
                          <a:effectLst/>
                        </a:rPr>
                        <a:t>Average </a:t>
                      </a:r>
                      <a:r>
                        <a:rPr lang="en-IN" sz="700" u="none" strike="noStrike" dirty="0" err="1">
                          <a:effectLst/>
                        </a:rPr>
                        <a:t>Temprature</a:t>
                      </a:r>
                      <a:r>
                        <a:rPr lang="en-IN" sz="700" u="none" strike="noStrike" dirty="0">
                          <a:effectLst/>
                        </a:rPr>
                        <a:t> By </a:t>
                      </a:r>
                      <a:r>
                        <a:rPr lang="en-IN" sz="700" u="none" strike="noStrike" dirty="0" err="1">
                          <a:effectLst/>
                        </a:rPr>
                        <a:t>Weathersit</a:t>
                      </a:r>
                      <a:endParaRPr lang="en-IN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 gridSpan="2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700" u="none" strike="noStrike" dirty="0">
                          <a:effectLst/>
                        </a:rPr>
                        <a:t>Average </a:t>
                      </a:r>
                      <a:r>
                        <a:rPr lang="en-IN" sz="700" u="none" strike="noStrike" dirty="0" err="1">
                          <a:effectLst/>
                        </a:rPr>
                        <a:t>Temprature</a:t>
                      </a:r>
                      <a:r>
                        <a:rPr lang="en-IN" sz="700" u="none" strike="noStrike" dirty="0">
                          <a:effectLst/>
                        </a:rPr>
                        <a:t> By Weekdays</a:t>
                      </a:r>
                      <a:endParaRPr lang="en-IN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 gridSpan="2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Average Temprature By Hours</a:t>
                      </a:r>
                      <a:endParaRPr lang="en-IN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8074366"/>
                  </a:ext>
                </a:extLst>
              </a:tr>
              <a:tr h="1781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Row Labels</a:t>
                      </a:r>
                      <a:endParaRPr lang="en-IN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Average of Temp</a:t>
                      </a:r>
                      <a:endParaRPr lang="en-IN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Row Labels</a:t>
                      </a:r>
                      <a:endParaRPr lang="en-IN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Average of Temp</a:t>
                      </a:r>
                      <a:endParaRPr lang="en-IN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Row Labels</a:t>
                      </a:r>
                      <a:endParaRPr lang="en-IN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Average of Count</a:t>
                      </a:r>
                      <a:endParaRPr lang="en-IN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extLst>
                  <a:ext uri="{0D108BD9-81ED-4DB2-BD59-A6C34878D82A}">
                    <a16:rowId xmlns:a16="http://schemas.microsoft.com/office/drawing/2014/main" val="3261306383"/>
                  </a:ext>
                </a:extLst>
              </a:tr>
              <a:tr h="1781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Sunny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0.20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 dirty="0">
                          <a:effectLst/>
                        </a:rPr>
                        <a:t>SUNDAY</a:t>
                      </a:r>
                      <a:endParaRPr lang="en-I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0.24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0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16.35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extLst>
                  <a:ext uri="{0D108BD9-81ED-4DB2-BD59-A6C34878D82A}">
                    <a16:rowId xmlns:a16="http://schemas.microsoft.com/office/drawing/2014/main" val="3596883471"/>
                  </a:ext>
                </a:extLst>
              </a:tr>
              <a:tr h="1781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Cloudy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0.22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 dirty="0">
                          <a:effectLst/>
                        </a:rPr>
                        <a:t>Monday</a:t>
                      </a:r>
                      <a:endParaRPr lang="en-I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0.19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1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10.70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extLst>
                  <a:ext uri="{0D108BD9-81ED-4DB2-BD59-A6C34878D82A}">
                    <a16:rowId xmlns:a16="http://schemas.microsoft.com/office/drawing/2014/main" val="3698932558"/>
                  </a:ext>
                </a:extLst>
              </a:tr>
              <a:tr h="1781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Rainy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0.21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 dirty="0">
                          <a:effectLst/>
                        </a:rPr>
                        <a:t>Tuesday</a:t>
                      </a:r>
                      <a:endParaRPr lang="en-I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0.20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2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7.17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extLst>
                  <a:ext uri="{0D108BD9-81ED-4DB2-BD59-A6C34878D82A}">
                    <a16:rowId xmlns:a16="http://schemas.microsoft.com/office/drawing/2014/main" val="3120425208"/>
                  </a:ext>
                </a:extLst>
              </a:tr>
              <a:tr h="1781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windy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0.22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 dirty="0">
                          <a:effectLst/>
                        </a:rPr>
                        <a:t>Wednesday</a:t>
                      </a:r>
                      <a:endParaRPr lang="en-I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0.22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3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4.87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extLst>
                  <a:ext uri="{0D108BD9-81ED-4DB2-BD59-A6C34878D82A}">
                    <a16:rowId xmlns:a16="http://schemas.microsoft.com/office/drawing/2014/main" val="1471659400"/>
                  </a:ext>
                </a:extLst>
              </a:tr>
              <a:tr h="1781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Grand Total</a:t>
                      </a:r>
                      <a:endParaRPr lang="en-IN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800" u="none" strike="noStrike">
                          <a:effectLst/>
                        </a:rPr>
                        <a:t>0.21</a:t>
                      </a:r>
                      <a:endParaRPr lang="en-IN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 dirty="0">
                          <a:effectLst/>
                        </a:rPr>
                        <a:t>Thursday</a:t>
                      </a:r>
                      <a:endParaRPr lang="en-I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0.19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4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2.16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extLst>
                  <a:ext uri="{0D108BD9-81ED-4DB2-BD59-A6C34878D82A}">
                    <a16:rowId xmlns:a16="http://schemas.microsoft.com/office/drawing/2014/main" val="1252932976"/>
                  </a:ext>
                </a:extLst>
              </a:tr>
              <a:tr h="1781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 dirty="0">
                          <a:effectLst/>
                        </a:rPr>
                        <a:t>Friday</a:t>
                      </a:r>
                      <a:endParaRPr lang="en-I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0.19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5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4.21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extLst>
                  <a:ext uri="{0D108BD9-81ED-4DB2-BD59-A6C34878D82A}">
                    <a16:rowId xmlns:a16="http://schemas.microsoft.com/office/drawing/2014/main" val="1229790039"/>
                  </a:ext>
                </a:extLst>
              </a:tr>
              <a:tr h="1781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 dirty="0">
                          <a:effectLst/>
                        </a:rPr>
                        <a:t>Saturday</a:t>
                      </a:r>
                      <a:endParaRPr lang="en-I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0.21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6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19.57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extLst>
                  <a:ext uri="{0D108BD9-81ED-4DB2-BD59-A6C34878D82A}">
                    <a16:rowId xmlns:a16="http://schemas.microsoft.com/office/drawing/2014/main" val="2730412948"/>
                  </a:ext>
                </a:extLst>
              </a:tr>
              <a:tr h="1781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 dirty="0">
                          <a:effectLst/>
                        </a:rPr>
                        <a:t>Grand Total</a:t>
                      </a:r>
                      <a:endParaRPr lang="en-IN" sz="7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0.21</a:t>
                      </a:r>
                      <a:endParaRPr lang="en-IN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7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54.40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extLst>
                  <a:ext uri="{0D108BD9-81ED-4DB2-BD59-A6C34878D82A}">
                    <a16:rowId xmlns:a16="http://schemas.microsoft.com/office/drawing/2014/main" val="4157745179"/>
                  </a:ext>
                </a:extLst>
              </a:tr>
              <a:tr h="1781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8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128.29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extLst>
                  <a:ext uri="{0D108BD9-81ED-4DB2-BD59-A6C34878D82A}">
                    <a16:rowId xmlns:a16="http://schemas.microsoft.com/office/drawing/2014/main" val="3718384777"/>
                  </a:ext>
                </a:extLst>
              </a:tr>
              <a:tr h="1781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9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87.43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extLst>
                  <a:ext uri="{0D108BD9-81ED-4DB2-BD59-A6C34878D82A}">
                    <a16:rowId xmlns:a16="http://schemas.microsoft.com/office/drawing/2014/main" val="4228547514"/>
                  </a:ext>
                </a:extLst>
              </a:tr>
              <a:tr h="1781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10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53.64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extLst>
                  <a:ext uri="{0D108BD9-81ED-4DB2-BD59-A6C34878D82A}">
                    <a16:rowId xmlns:a16="http://schemas.microsoft.com/office/drawing/2014/main" val="2058569008"/>
                  </a:ext>
                </a:extLst>
              </a:tr>
              <a:tr h="1781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11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59.38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extLst>
                  <a:ext uri="{0D108BD9-81ED-4DB2-BD59-A6C34878D82A}">
                    <a16:rowId xmlns:a16="http://schemas.microsoft.com/office/drawing/2014/main" val="990382638"/>
                  </a:ext>
                </a:extLst>
              </a:tr>
              <a:tr h="1781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12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76.35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extLst>
                  <a:ext uri="{0D108BD9-81ED-4DB2-BD59-A6C34878D82A}">
                    <a16:rowId xmlns:a16="http://schemas.microsoft.com/office/drawing/2014/main" val="250170246"/>
                  </a:ext>
                </a:extLst>
              </a:tr>
              <a:tr h="1781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13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78.51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extLst>
                  <a:ext uri="{0D108BD9-81ED-4DB2-BD59-A6C34878D82A}">
                    <a16:rowId xmlns:a16="http://schemas.microsoft.com/office/drawing/2014/main" val="3355914278"/>
                  </a:ext>
                </a:extLst>
              </a:tr>
              <a:tr h="1781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14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74.42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extLst>
                  <a:ext uri="{0D108BD9-81ED-4DB2-BD59-A6C34878D82A}">
                    <a16:rowId xmlns:a16="http://schemas.microsoft.com/office/drawing/2014/main" val="2507221342"/>
                  </a:ext>
                </a:extLst>
              </a:tr>
              <a:tr h="1781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15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77.95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extLst>
                  <a:ext uri="{0D108BD9-81ED-4DB2-BD59-A6C34878D82A}">
                    <a16:rowId xmlns:a16="http://schemas.microsoft.com/office/drawing/2014/main" val="669617346"/>
                  </a:ext>
                </a:extLst>
              </a:tr>
              <a:tr h="1781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16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89.27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extLst>
                  <a:ext uri="{0D108BD9-81ED-4DB2-BD59-A6C34878D82A}">
                    <a16:rowId xmlns:a16="http://schemas.microsoft.com/office/drawing/2014/main" val="3634358236"/>
                  </a:ext>
                </a:extLst>
              </a:tr>
              <a:tr h="1781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17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140.20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extLst>
                  <a:ext uri="{0D108BD9-81ED-4DB2-BD59-A6C34878D82A}">
                    <a16:rowId xmlns:a16="http://schemas.microsoft.com/office/drawing/2014/main" val="3899439311"/>
                  </a:ext>
                </a:extLst>
              </a:tr>
              <a:tr h="1781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18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122.86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extLst>
                  <a:ext uri="{0D108BD9-81ED-4DB2-BD59-A6C34878D82A}">
                    <a16:rowId xmlns:a16="http://schemas.microsoft.com/office/drawing/2014/main" val="3898326858"/>
                  </a:ext>
                </a:extLst>
              </a:tr>
              <a:tr h="1781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19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85.14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extLst>
                  <a:ext uri="{0D108BD9-81ED-4DB2-BD59-A6C34878D82A}">
                    <a16:rowId xmlns:a16="http://schemas.microsoft.com/office/drawing/2014/main" val="1876064431"/>
                  </a:ext>
                </a:extLst>
              </a:tr>
              <a:tr h="1781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20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61.77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extLst>
                  <a:ext uri="{0D108BD9-81ED-4DB2-BD59-A6C34878D82A}">
                    <a16:rowId xmlns:a16="http://schemas.microsoft.com/office/drawing/2014/main" val="2398009956"/>
                  </a:ext>
                </a:extLst>
              </a:tr>
              <a:tr h="1781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21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46.42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extLst>
                  <a:ext uri="{0D108BD9-81ED-4DB2-BD59-A6C34878D82A}">
                    <a16:rowId xmlns:a16="http://schemas.microsoft.com/office/drawing/2014/main" val="235257481"/>
                  </a:ext>
                </a:extLst>
              </a:tr>
              <a:tr h="1781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22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35.07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extLst>
                  <a:ext uri="{0D108BD9-81ED-4DB2-BD59-A6C34878D82A}">
                    <a16:rowId xmlns:a16="http://schemas.microsoft.com/office/drawing/2014/main" val="3969296937"/>
                  </a:ext>
                </a:extLst>
              </a:tr>
              <a:tr h="1781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23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25.19</a:t>
                      </a:r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extLst>
                  <a:ext uri="{0D108BD9-81ED-4DB2-BD59-A6C34878D82A}">
                    <a16:rowId xmlns:a16="http://schemas.microsoft.com/office/drawing/2014/main" val="3357120822"/>
                  </a:ext>
                </a:extLst>
              </a:tr>
              <a:tr h="1781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700" u="none" strike="noStrike">
                          <a:effectLst/>
                        </a:rPr>
                        <a:t>Grand Total</a:t>
                      </a:r>
                      <a:endParaRPr lang="en-IN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700" u="none" strike="noStrike" dirty="0">
                          <a:effectLst/>
                        </a:rPr>
                        <a:t>58.304</a:t>
                      </a:r>
                      <a:endParaRPr lang="en-IN" sz="7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56" marR="7056" marT="7056" marB="0" anchor="b"/>
                </a:tc>
                <a:extLst>
                  <a:ext uri="{0D108BD9-81ED-4DB2-BD59-A6C34878D82A}">
                    <a16:rowId xmlns:a16="http://schemas.microsoft.com/office/drawing/2014/main" val="267414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6561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20009F-E902-8B58-720D-788E503E303A}"/>
              </a:ext>
            </a:extLst>
          </p:cNvPr>
          <p:cNvSpPr txBox="1"/>
          <p:nvPr/>
        </p:nvSpPr>
        <p:spPr>
          <a:xfrm>
            <a:off x="539552" y="910117"/>
            <a:ext cx="8352928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1.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Average Temperature by Weather Condition ("</a:t>
            </a:r>
            <a:r>
              <a:rPr lang="en-IN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Weathersit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")</a:t>
            </a:r>
          </a:p>
          <a:p>
            <a:pPr lvl="0"/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Low Overall Variation: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Average normalized temperatures remain virtually identical across all weather conditions, ranging tightly from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0.20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to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0.22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lvl="0"/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Highest Temperature: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Cloudy and Windy conditions record the highest average temperature at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0.22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lvl="0"/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Lowest Temperature: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Sunny condition records the lowest average temperature at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0.20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lvl="0"/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Grand Total Average: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0.21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lvl="0"/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2. Average Temperature by Day of the Week</a:t>
            </a:r>
          </a:p>
          <a:p>
            <a:pPr lvl="0"/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Peak Day: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SUNDAY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experiences the highest average temperature at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0.24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lvl="0"/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Warm Mid-Week Peak: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Wednesday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shows a slight peak among weekdays at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0.22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lvl="0"/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Coolest Days: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Monday, Thursday, and Friday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tie for the lowest average temperature at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0.19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lvl="0"/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Grand Total Average: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0.21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(consistent with the overall average in the first table). </a:t>
            </a:r>
          </a:p>
          <a:p>
            <a:pPr lvl="0"/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7665E0-2CF8-0381-D061-343FC77C34B3}"/>
              </a:ext>
            </a:extLst>
          </p:cNvPr>
          <p:cNvSpPr txBox="1"/>
          <p:nvPr/>
        </p:nvSpPr>
        <p:spPr>
          <a:xfrm>
            <a:off x="251520" y="476672"/>
            <a:ext cx="73808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	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Key Observations:-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21002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2B988BA-9164-44B9-EF73-808CD9B68E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107209"/>
              </p:ext>
            </p:extLst>
          </p:nvPr>
        </p:nvGraphicFramePr>
        <p:xfrm>
          <a:off x="539552" y="404665"/>
          <a:ext cx="7704855" cy="28271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3722">
                  <a:extLst>
                    <a:ext uri="{9D8B030D-6E8A-4147-A177-3AD203B41FA5}">
                      <a16:colId xmlns:a16="http://schemas.microsoft.com/office/drawing/2014/main" val="3666980927"/>
                    </a:ext>
                  </a:extLst>
                </a:gridCol>
                <a:gridCol w="835877">
                  <a:extLst>
                    <a:ext uri="{9D8B030D-6E8A-4147-A177-3AD203B41FA5}">
                      <a16:colId xmlns:a16="http://schemas.microsoft.com/office/drawing/2014/main" val="37017312"/>
                    </a:ext>
                  </a:extLst>
                </a:gridCol>
                <a:gridCol w="363919">
                  <a:extLst>
                    <a:ext uri="{9D8B030D-6E8A-4147-A177-3AD203B41FA5}">
                      <a16:colId xmlns:a16="http://schemas.microsoft.com/office/drawing/2014/main" val="3676807250"/>
                    </a:ext>
                  </a:extLst>
                </a:gridCol>
                <a:gridCol w="693722">
                  <a:extLst>
                    <a:ext uri="{9D8B030D-6E8A-4147-A177-3AD203B41FA5}">
                      <a16:colId xmlns:a16="http://schemas.microsoft.com/office/drawing/2014/main" val="1329288085"/>
                    </a:ext>
                  </a:extLst>
                </a:gridCol>
                <a:gridCol w="835877">
                  <a:extLst>
                    <a:ext uri="{9D8B030D-6E8A-4147-A177-3AD203B41FA5}">
                      <a16:colId xmlns:a16="http://schemas.microsoft.com/office/drawing/2014/main" val="2580296369"/>
                    </a:ext>
                  </a:extLst>
                </a:gridCol>
                <a:gridCol w="363919">
                  <a:extLst>
                    <a:ext uri="{9D8B030D-6E8A-4147-A177-3AD203B41FA5}">
                      <a16:colId xmlns:a16="http://schemas.microsoft.com/office/drawing/2014/main" val="2472488356"/>
                    </a:ext>
                  </a:extLst>
                </a:gridCol>
                <a:gridCol w="363919">
                  <a:extLst>
                    <a:ext uri="{9D8B030D-6E8A-4147-A177-3AD203B41FA5}">
                      <a16:colId xmlns:a16="http://schemas.microsoft.com/office/drawing/2014/main" val="2522448264"/>
                    </a:ext>
                  </a:extLst>
                </a:gridCol>
                <a:gridCol w="824505">
                  <a:extLst>
                    <a:ext uri="{9D8B030D-6E8A-4147-A177-3AD203B41FA5}">
                      <a16:colId xmlns:a16="http://schemas.microsoft.com/office/drawing/2014/main" val="3865503307"/>
                    </a:ext>
                  </a:extLst>
                </a:gridCol>
                <a:gridCol w="835877">
                  <a:extLst>
                    <a:ext uri="{9D8B030D-6E8A-4147-A177-3AD203B41FA5}">
                      <a16:colId xmlns:a16="http://schemas.microsoft.com/office/drawing/2014/main" val="4218576787"/>
                    </a:ext>
                  </a:extLst>
                </a:gridCol>
                <a:gridCol w="363919">
                  <a:extLst>
                    <a:ext uri="{9D8B030D-6E8A-4147-A177-3AD203B41FA5}">
                      <a16:colId xmlns:a16="http://schemas.microsoft.com/office/drawing/2014/main" val="4141240746"/>
                    </a:ext>
                  </a:extLst>
                </a:gridCol>
                <a:gridCol w="693722">
                  <a:extLst>
                    <a:ext uri="{9D8B030D-6E8A-4147-A177-3AD203B41FA5}">
                      <a16:colId xmlns:a16="http://schemas.microsoft.com/office/drawing/2014/main" val="3978250919"/>
                    </a:ext>
                  </a:extLst>
                </a:gridCol>
                <a:gridCol w="835877">
                  <a:extLst>
                    <a:ext uri="{9D8B030D-6E8A-4147-A177-3AD203B41FA5}">
                      <a16:colId xmlns:a16="http://schemas.microsoft.com/office/drawing/2014/main" val="1494324245"/>
                    </a:ext>
                  </a:extLst>
                </a:gridCol>
              </a:tblGrid>
              <a:tr h="209142">
                <a:tc gridSpan="2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Average Temprature By Daywise</a:t>
                      </a:r>
                      <a:endParaRPr lang="en-IN" sz="6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 gridSpan="2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Average BikeUsers By Weather</a:t>
                      </a:r>
                      <a:endParaRPr lang="en-IN" sz="6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 gridSpan="2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Average BikeUsers By Hour</a:t>
                      </a:r>
                      <a:endParaRPr lang="en-IN" sz="6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 gridSpan="2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 dirty="0">
                          <a:effectLst/>
                        </a:rPr>
                        <a:t>Average </a:t>
                      </a:r>
                      <a:r>
                        <a:rPr lang="en-IN" sz="600" u="none" strike="noStrike" dirty="0" err="1">
                          <a:effectLst/>
                        </a:rPr>
                        <a:t>BikeUsers</a:t>
                      </a:r>
                      <a:r>
                        <a:rPr lang="en-IN" sz="600" u="none" strike="noStrike" dirty="0">
                          <a:effectLst/>
                        </a:rPr>
                        <a:t> By Days</a:t>
                      </a:r>
                      <a:endParaRPr lang="en-IN" sz="6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6794686"/>
                  </a:ext>
                </a:extLst>
              </a:tr>
              <a:tr h="909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Row Labels</a:t>
                      </a:r>
                      <a:endParaRPr lang="en-IN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Average of Count</a:t>
                      </a:r>
                      <a:endParaRPr lang="en-IN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Row Labels</a:t>
                      </a:r>
                      <a:endParaRPr lang="en-IN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Average of Count</a:t>
                      </a:r>
                      <a:endParaRPr lang="en-IN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Row Labels</a:t>
                      </a:r>
                      <a:endParaRPr lang="en-IN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Average of Count</a:t>
                      </a:r>
                      <a:endParaRPr lang="en-IN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Row Labels</a:t>
                      </a:r>
                      <a:endParaRPr lang="en-IN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Average of Count</a:t>
                      </a:r>
                      <a:endParaRPr lang="en-IN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extLst>
                  <a:ext uri="{0D108BD9-81ED-4DB2-BD59-A6C34878D82A}">
                    <a16:rowId xmlns:a16="http://schemas.microsoft.com/office/drawing/2014/main" val="3531795822"/>
                  </a:ext>
                </a:extLst>
              </a:tr>
              <a:tr h="909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Sunday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49.52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Sunny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61.67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0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16.35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Sunday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49.52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extLst>
                  <a:ext uri="{0D108BD9-81ED-4DB2-BD59-A6C34878D82A}">
                    <a16:rowId xmlns:a16="http://schemas.microsoft.com/office/drawing/2014/main" val="3807042912"/>
                  </a:ext>
                </a:extLst>
              </a:tr>
              <a:tr h="909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Monday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56.71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Cloudy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58.60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10.70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Monday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56.71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extLst>
                  <a:ext uri="{0D108BD9-81ED-4DB2-BD59-A6C34878D82A}">
                    <a16:rowId xmlns:a16="http://schemas.microsoft.com/office/drawing/2014/main" val="2134610244"/>
                  </a:ext>
                </a:extLst>
              </a:tr>
              <a:tr h="909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Tuesday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66.01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Rainy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33.20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2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7.17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Tuesday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66.01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extLst>
                  <a:ext uri="{0D108BD9-81ED-4DB2-BD59-A6C34878D82A}">
                    <a16:rowId xmlns:a16="http://schemas.microsoft.com/office/drawing/2014/main" val="4239877910"/>
                  </a:ext>
                </a:extLst>
              </a:tr>
              <a:tr h="909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Wednesday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61.44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Windy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36.00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3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4.87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Wedneday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61.44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extLst>
                  <a:ext uri="{0D108BD9-81ED-4DB2-BD59-A6C34878D82A}">
                    <a16:rowId xmlns:a16="http://schemas.microsoft.com/office/drawing/2014/main" val="3171363360"/>
                  </a:ext>
                </a:extLst>
              </a:tr>
              <a:tr h="909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Thursday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67.66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Grand Total</a:t>
                      </a:r>
                      <a:endParaRPr lang="en-IN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58.30</a:t>
                      </a:r>
                      <a:endParaRPr lang="en-IN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4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2.16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Thursday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67.66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extLst>
                  <a:ext uri="{0D108BD9-81ED-4DB2-BD59-A6C34878D82A}">
                    <a16:rowId xmlns:a16="http://schemas.microsoft.com/office/drawing/2014/main" val="1397846250"/>
                  </a:ext>
                </a:extLst>
              </a:tr>
              <a:tr h="909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Friday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65.91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5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4.21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Friday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65.91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extLst>
                  <a:ext uri="{0D108BD9-81ED-4DB2-BD59-A6C34878D82A}">
                    <a16:rowId xmlns:a16="http://schemas.microsoft.com/office/drawing/2014/main" val="714568205"/>
                  </a:ext>
                </a:extLst>
              </a:tr>
              <a:tr h="909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Saturdsy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46.67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6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19.57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Saturday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46.67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extLst>
                  <a:ext uri="{0D108BD9-81ED-4DB2-BD59-A6C34878D82A}">
                    <a16:rowId xmlns:a16="http://schemas.microsoft.com/office/drawing/2014/main" val="8529117"/>
                  </a:ext>
                </a:extLst>
              </a:tr>
              <a:tr h="909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Grand Total</a:t>
                      </a:r>
                      <a:endParaRPr lang="en-IN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58.30</a:t>
                      </a:r>
                      <a:endParaRPr lang="en-IN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7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54.40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Grand Total</a:t>
                      </a:r>
                      <a:endParaRPr lang="en-IN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58.30</a:t>
                      </a:r>
                      <a:endParaRPr lang="en-IN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extLst>
                  <a:ext uri="{0D108BD9-81ED-4DB2-BD59-A6C34878D82A}">
                    <a16:rowId xmlns:a16="http://schemas.microsoft.com/office/drawing/2014/main" val="2116906694"/>
                  </a:ext>
                </a:extLst>
              </a:tr>
              <a:tr h="909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8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128.29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extLst>
                  <a:ext uri="{0D108BD9-81ED-4DB2-BD59-A6C34878D82A}">
                    <a16:rowId xmlns:a16="http://schemas.microsoft.com/office/drawing/2014/main" val="1013871597"/>
                  </a:ext>
                </a:extLst>
              </a:tr>
              <a:tr h="909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9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87.43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extLst>
                  <a:ext uri="{0D108BD9-81ED-4DB2-BD59-A6C34878D82A}">
                    <a16:rowId xmlns:a16="http://schemas.microsoft.com/office/drawing/2014/main" val="3077514967"/>
                  </a:ext>
                </a:extLst>
              </a:tr>
              <a:tr h="909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10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53.64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extLst>
                  <a:ext uri="{0D108BD9-81ED-4DB2-BD59-A6C34878D82A}">
                    <a16:rowId xmlns:a16="http://schemas.microsoft.com/office/drawing/2014/main" val="609401135"/>
                  </a:ext>
                </a:extLst>
              </a:tr>
              <a:tr h="909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11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59.38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extLst>
                  <a:ext uri="{0D108BD9-81ED-4DB2-BD59-A6C34878D82A}">
                    <a16:rowId xmlns:a16="http://schemas.microsoft.com/office/drawing/2014/main" val="2964629721"/>
                  </a:ext>
                </a:extLst>
              </a:tr>
              <a:tr h="909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12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76.35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extLst>
                  <a:ext uri="{0D108BD9-81ED-4DB2-BD59-A6C34878D82A}">
                    <a16:rowId xmlns:a16="http://schemas.microsoft.com/office/drawing/2014/main" val="4292917851"/>
                  </a:ext>
                </a:extLst>
              </a:tr>
              <a:tr h="909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13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78.51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extLst>
                  <a:ext uri="{0D108BD9-81ED-4DB2-BD59-A6C34878D82A}">
                    <a16:rowId xmlns:a16="http://schemas.microsoft.com/office/drawing/2014/main" val="595595138"/>
                  </a:ext>
                </a:extLst>
              </a:tr>
              <a:tr h="909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14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74.42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extLst>
                  <a:ext uri="{0D108BD9-81ED-4DB2-BD59-A6C34878D82A}">
                    <a16:rowId xmlns:a16="http://schemas.microsoft.com/office/drawing/2014/main" val="2078008283"/>
                  </a:ext>
                </a:extLst>
              </a:tr>
              <a:tr h="909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15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77.95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extLst>
                  <a:ext uri="{0D108BD9-81ED-4DB2-BD59-A6C34878D82A}">
                    <a16:rowId xmlns:a16="http://schemas.microsoft.com/office/drawing/2014/main" val="334769078"/>
                  </a:ext>
                </a:extLst>
              </a:tr>
              <a:tr h="909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16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89.27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extLst>
                  <a:ext uri="{0D108BD9-81ED-4DB2-BD59-A6C34878D82A}">
                    <a16:rowId xmlns:a16="http://schemas.microsoft.com/office/drawing/2014/main" val="504964671"/>
                  </a:ext>
                </a:extLst>
              </a:tr>
              <a:tr h="909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17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140.20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extLst>
                  <a:ext uri="{0D108BD9-81ED-4DB2-BD59-A6C34878D82A}">
                    <a16:rowId xmlns:a16="http://schemas.microsoft.com/office/drawing/2014/main" val="3317342017"/>
                  </a:ext>
                </a:extLst>
              </a:tr>
              <a:tr h="909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18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122.86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extLst>
                  <a:ext uri="{0D108BD9-81ED-4DB2-BD59-A6C34878D82A}">
                    <a16:rowId xmlns:a16="http://schemas.microsoft.com/office/drawing/2014/main" val="1525244885"/>
                  </a:ext>
                </a:extLst>
              </a:tr>
              <a:tr h="909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19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85.14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extLst>
                  <a:ext uri="{0D108BD9-81ED-4DB2-BD59-A6C34878D82A}">
                    <a16:rowId xmlns:a16="http://schemas.microsoft.com/office/drawing/2014/main" val="3934840920"/>
                  </a:ext>
                </a:extLst>
              </a:tr>
              <a:tr h="909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20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61.77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extLst>
                  <a:ext uri="{0D108BD9-81ED-4DB2-BD59-A6C34878D82A}">
                    <a16:rowId xmlns:a16="http://schemas.microsoft.com/office/drawing/2014/main" val="3311212479"/>
                  </a:ext>
                </a:extLst>
              </a:tr>
              <a:tr h="909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21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46.42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extLst>
                  <a:ext uri="{0D108BD9-81ED-4DB2-BD59-A6C34878D82A}">
                    <a16:rowId xmlns:a16="http://schemas.microsoft.com/office/drawing/2014/main" val="1038784194"/>
                  </a:ext>
                </a:extLst>
              </a:tr>
              <a:tr h="909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22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35.07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extLst>
                  <a:ext uri="{0D108BD9-81ED-4DB2-BD59-A6C34878D82A}">
                    <a16:rowId xmlns:a16="http://schemas.microsoft.com/office/drawing/2014/main" val="3077076203"/>
                  </a:ext>
                </a:extLst>
              </a:tr>
              <a:tr h="909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23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25.19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extLst>
                  <a:ext uri="{0D108BD9-81ED-4DB2-BD59-A6C34878D82A}">
                    <a16:rowId xmlns:a16="http://schemas.microsoft.com/office/drawing/2014/main" val="2253266605"/>
                  </a:ext>
                </a:extLst>
              </a:tr>
              <a:tr h="909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Grand Total</a:t>
                      </a:r>
                      <a:endParaRPr lang="en-IN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600" u="none" strike="noStrike">
                          <a:effectLst/>
                        </a:rPr>
                        <a:t>58.30</a:t>
                      </a:r>
                      <a:endParaRPr lang="en-IN" sz="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extLst>
                  <a:ext uri="{0D108BD9-81ED-4DB2-BD59-A6C34878D82A}">
                    <a16:rowId xmlns:a16="http://schemas.microsoft.com/office/drawing/2014/main" val="4014261735"/>
                  </a:ext>
                </a:extLst>
              </a:tr>
              <a:tr h="909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22" marR="5522" marT="5522" marB="0" anchor="b"/>
                </a:tc>
                <a:extLst>
                  <a:ext uri="{0D108BD9-81ED-4DB2-BD59-A6C34878D82A}">
                    <a16:rowId xmlns:a16="http://schemas.microsoft.com/office/drawing/2014/main" val="6874678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2547F80-B1A6-A55C-16F7-673302F1B46F}"/>
              </a:ext>
            </a:extLst>
          </p:cNvPr>
          <p:cNvSpPr txBox="1"/>
          <p:nvPr/>
        </p:nvSpPr>
        <p:spPr>
          <a:xfrm>
            <a:off x="539552" y="3349347"/>
            <a:ext cx="806489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Key Observations:-</a:t>
            </a:r>
          </a:p>
          <a:p>
            <a:r>
              <a:rPr lang="en-IN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Daywise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Usage vs. Temperature Discrepancy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: The first table 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labeled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"Average Temperature By 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Daywise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" displays identical numerical values as the fourth table 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labeled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"Average 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BikeUsers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By Days" (e.g., Sunday = 49.52, Thursday = 67.66, Grand Total = 58.30). This indicates a potential calculation error or 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mislabeled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data field in the first table. </a:t>
            </a:r>
          </a:p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Peak Usage Days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: Bike usage is significantly higher on weekdays compared to weekends. 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Thursday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has the highest average count (67.66), followed closely by 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Tuesday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(66.01) and 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Friday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(65.91). Weekends experience the lowest usage, with 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Saturday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dropping to 46.67 and 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Sunday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at 49.52.</a:t>
            </a:r>
          </a:p>
        </p:txBody>
      </p:sp>
    </p:spTree>
    <p:extLst>
      <p:ext uri="{BB962C8B-B14F-4D97-AF65-F5344CB8AC3E}">
        <p14:creationId xmlns:p14="http://schemas.microsoft.com/office/powerpoint/2010/main" val="26578683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2C3F1-F82E-C813-7760-AB137366C1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68760"/>
            <a:ext cx="8712968" cy="6059766"/>
          </a:xfrm>
        </p:spPr>
        <p:txBody>
          <a:bodyPr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Hourly Peak Times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Usage heavily concentrates around typical commuting hours: </a:t>
            </a:r>
          </a:p>
          <a:p>
            <a:pPr lvl="0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Weather Impact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Weather conditions strongly influence bike usage: </a:t>
            </a:r>
          </a:p>
          <a:p>
            <a:pPr lvl="1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Sunny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weather yields the highest average count (61.67), closely followed by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Cloudy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conditions (58.60). </a:t>
            </a:r>
          </a:p>
          <a:p>
            <a:pPr lvl="1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Adverse weather significantly reduces usage, with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Rainy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conditions dropping average count to 33.20 and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Windy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conditions to 36.00. </a:t>
            </a:r>
          </a:p>
          <a:p>
            <a:pPr lvl="0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Overall Average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Across weather, hourly, and daily metrics, the overall grand total average count remains consistent at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58.30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84523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792088"/>
          </a:xfrm>
        </p:spPr>
        <p:txBody>
          <a:bodyPr>
            <a:normAutofit/>
          </a:bodyPr>
          <a:lstStyle/>
          <a:p>
            <a:r>
              <a:rPr lang="en-IN" sz="3600" b="1" dirty="0"/>
              <a:t>Dashboard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0178513" y="-121386600"/>
            <a:ext cx="249501026" cy="24963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9785816" y="-122070676"/>
            <a:ext cx="249501026" cy="24963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16130" y="4869160"/>
            <a:ext cx="832036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Dashboard Highlights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Combines KPIs and charts into a single view.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Provides a quick summary of rental patterns and user behaviour.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Supports easy interpretation and decision-making.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Using Slicer And Timeline interprets Data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Monthwise,Seasonwise,Daywise,Holidaywise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8902B1-4435-F40E-BFC4-9D2CE7192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856" y="796698"/>
            <a:ext cx="8589640" cy="4072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4754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B7AD823-001B-9265-C9BC-8C85FE5ACCE7}"/>
              </a:ext>
            </a:extLst>
          </p:cNvPr>
          <p:cNvSpPr txBox="1"/>
          <p:nvPr/>
        </p:nvSpPr>
        <p:spPr>
          <a:xfrm>
            <a:off x="431540" y="1578329"/>
            <a:ext cx="828092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Core KPI Overview</a:t>
            </a:r>
          </a:p>
          <a:p>
            <a:pPr lvl="0"/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Total Rentals: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The system logged </a:t>
            </a: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58,304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overall rentals. </a:t>
            </a:r>
          </a:p>
          <a:p>
            <a:pPr lvl="0"/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User Breakdown: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Registered users dominate the user base with </a:t>
            </a: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53,383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rentals, compared to </a:t>
            </a: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4,921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casual user rentals. </a:t>
            </a:r>
          </a:p>
          <a:p>
            <a:pPr lvl="0"/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Averages: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The average user count per unit time is </a:t>
            </a: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55.57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, with an average temperature reading of </a:t>
            </a: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0.20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and average humidity recorded at </a:t>
            </a: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0.6248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2. User Types &amp; Composition</a:t>
            </a:r>
          </a:p>
          <a:p>
            <a:pPr lvl="0"/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Registered vs. Casual Preference: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Registered users represent the vast majority of total usage (over 90%), showing strong reliance on the bike share program for regular commuting. </a:t>
            </a:r>
          </a:p>
          <a:p>
            <a:pPr lvl="0"/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Holiday Distribution: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Non-holiday rentals vastly outweigh holiday rentals (as seen in the pie chart for "No Of Holiday / No Holiday"), reinforcing that the system is primarily driven by everyday working/commuting traffic rather than holiday tourism.  </a:t>
            </a:r>
          </a:p>
          <a:p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3. Seasonal &amp; Month-Wise Trends</a:t>
            </a:r>
          </a:p>
          <a:p>
            <a:pPr lvl="0"/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Monthly Volume Variations: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Month-wise user totals show distinct seasonal surges, with peak usage occurring during warmer, milder months and lower engagement in cooler months. </a:t>
            </a:r>
          </a:p>
          <a:p>
            <a:pPr lvl="0"/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Temperature Correlation: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Monthly average temperatures align closely with overall usage volumes, confirming that higher temperatures directly encourage more bike trips. </a:t>
            </a:r>
          </a:p>
          <a:p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4. Weather Impact</a:t>
            </a:r>
          </a:p>
          <a:p>
            <a:pPr lvl="0"/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Weather Conditions: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Clear/partly cloudy conditions generate higher rental averages compared to rainy, windy, or severe weather situations. </a:t>
            </a:r>
          </a:p>
          <a:p>
            <a:pPr lvl="0"/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Temperature Stability: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The line graph tracking average temperature across periods demonstrates steady trends, influencing daily and hourly riding comfort. </a:t>
            </a:r>
          </a:p>
          <a:p>
            <a:endParaRPr lang="en-IN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C64596-5D89-7E9B-F704-E5B44AA83517}"/>
              </a:ext>
            </a:extLst>
          </p:cNvPr>
          <p:cNvSpPr txBox="1"/>
          <p:nvPr/>
        </p:nvSpPr>
        <p:spPr>
          <a:xfrm>
            <a:off x="611560" y="548680"/>
            <a:ext cx="8280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Based on the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Bike Share Data Analysis Dashboard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, here are the key observations organized by major metric categories:</a:t>
            </a:r>
          </a:p>
        </p:txBody>
      </p:sp>
    </p:spTree>
    <p:extLst>
      <p:ext uri="{BB962C8B-B14F-4D97-AF65-F5344CB8AC3E}">
        <p14:creationId xmlns:p14="http://schemas.microsoft.com/office/powerpoint/2010/main" val="17379679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19256" cy="936104"/>
          </a:xfrm>
        </p:spPr>
        <p:txBody>
          <a:bodyPr>
            <a:normAutofit fontScale="90000"/>
          </a:bodyPr>
          <a:lstStyle/>
          <a:p>
            <a:br>
              <a:rPr lang="en-IN" sz="4000" b="1" dirty="0"/>
            </a:br>
            <a:r>
              <a:rPr lang="en-IN" sz="4000" b="1" dirty="0">
                <a:latin typeface="Arial" panose="020B0604020202020204" pitchFamily="34" charset="0"/>
                <a:cs typeface="Arial" panose="020B0604020202020204" pitchFamily="34" charset="0"/>
              </a:rPr>
              <a:t>Business Insights &amp; Recommendations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1732388"/>
              </p:ext>
            </p:extLst>
          </p:nvPr>
        </p:nvGraphicFramePr>
        <p:xfrm>
          <a:off x="483070" y="2005920"/>
          <a:ext cx="8373616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88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5496">
                <a:tc>
                  <a:txBody>
                    <a:bodyPr/>
                    <a:lstStyle/>
                    <a:p>
                      <a:r>
                        <a:rPr lang="en-IN" dirty="0"/>
                        <a:t>Business Insights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Recommendations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3740">
                <a:tc>
                  <a:txBody>
                    <a:bodyPr/>
                    <a:lstStyle/>
                    <a:p>
                      <a:r>
                        <a:rPr lang="en-IN" dirty="0"/>
                        <a:t>Bike rental demand is influenced by weather conditions and environmental factors.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Increase bike availability during peak demand periods.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3740">
                <a:tc>
                  <a:txBody>
                    <a:bodyPr/>
                    <a:lstStyle/>
                    <a:p>
                      <a:r>
                        <a:rPr lang="en-IN" dirty="0"/>
                        <a:t>Registered users contribute </a:t>
                      </a: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significantly</a:t>
                      </a:r>
                      <a:r>
                        <a:rPr lang="en-IN" dirty="0"/>
                        <a:t> more rentals than casual users.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Use weather forecasts for better operational planning.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3740">
                <a:tc>
                  <a:txBody>
                    <a:bodyPr/>
                    <a:lstStyle/>
                    <a:p>
                      <a:r>
                        <a:rPr lang="en-IN" dirty="0"/>
                        <a:t>Temperature and apparent temperature show a positive relationship with bike rentals.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Promote offers to increase casual user participation.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3740">
                <a:tc>
                  <a:txBody>
                    <a:bodyPr/>
                    <a:lstStyle/>
                    <a:p>
                      <a:r>
                        <a:rPr lang="en-IN" dirty="0"/>
                        <a:t>Humidity and wind speed also affect rental demand.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Schedule maintenance during lower-demand periods.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4618">
                <a:tc>
                  <a:txBody>
                    <a:bodyPr/>
                    <a:lstStyle/>
                    <a:p>
                      <a:r>
                        <a:rPr lang="en-IN" dirty="0"/>
                        <a:t>The dashboard helps visualize key rental patterns effectively.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55960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720080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980729"/>
            <a:ext cx="8856984" cy="3456383"/>
          </a:xfrm>
        </p:spPr>
        <p:txBody>
          <a:bodyPr anchor="ctr">
            <a:normAutofit fontScale="92500" lnSpcReduction="10000"/>
          </a:bodyPr>
          <a:lstStyle/>
          <a:p>
            <a:r>
              <a:rPr lang="en-IN" sz="2000" dirty="0"/>
              <a:t>Successfully cleaned, </a:t>
            </a:r>
            <a:r>
              <a:rPr lang="en-IN" sz="2000" dirty="0" err="1"/>
              <a:t>preprocessed</a:t>
            </a:r>
            <a:r>
              <a:rPr lang="en-IN" sz="2000" dirty="0"/>
              <a:t>, and integrated multiple datasets into a final dataset of </a:t>
            </a:r>
            <a:r>
              <a:rPr lang="en-IN" sz="2000" b="1" dirty="0"/>
              <a:t>1,000 records</a:t>
            </a:r>
            <a:r>
              <a:rPr lang="en-IN" sz="2000" dirty="0"/>
              <a:t>. </a:t>
            </a:r>
          </a:p>
          <a:p>
            <a:r>
              <a:rPr lang="en-IN" sz="2000" dirty="0"/>
              <a:t>Performed descriptive statistical analysis using Mean, Median, Mode, Standard Deviation, and Variance. </a:t>
            </a:r>
          </a:p>
          <a:p>
            <a:r>
              <a:rPr lang="en-IN" sz="2000" dirty="0"/>
              <a:t>Created Pivot Tables, charts, KPI cards, and an interactive dashboard for visualization. </a:t>
            </a:r>
          </a:p>
          <a:p>
            <a:r>
              <a:rPr lang="en-IN" sz="2000" dirty="0"/>
              <a:t>Identified important trends related to weather, user type, and rental behaviour. </a:t>
            </a:r>
          </a:p>
          <a:p>
            <a:r>
              <a:rPr lang="en-IN" sz="2000" dirty="0"/>
              <a:t>The project demonstrates how Excel can </a:t>
            </a:r>
            <a:r>
              <a:rPr lang="en-IN" sz="1800" dirty="0"/>
              <a:t>be</a:t>
            </a:r>
            <a:r>
              <a:rPr lang="en-IN" sz="2000" dirty="0"/>
              <a:t> used to transform raw data into meaningful business insights. 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1979712" y="5085184"/>
            <a:ext cx="5184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6833162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676</TotalTime>
  <Words>2454</Words>
  <Application>Microsoft Office PowerPoint</Application>
  <PresentationFormat>On-screen Show (4:3)</PresentationFormat>
  <Paragraphs>817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Century Gothic</vt:lpstr>
      <vt:lpstr>Wingdings</vt:lpstr>
      <vt:lpstr>Wingdings 3</vt:lpstr>
      <vt:lpstr>Ion</vt:lpstr>
      <vt:lpstr>Bike Sharing Data Analysis </vt:lpstr>
      <vt:lpstr>Project Objective</vt:lpstr>
      <vt:lpstr>Dataset Overview</vt:lpstr>
      <vt:lpstr>Data Cleaning &amp; Preprocessing </vt:lpstr>
      <vt:lpstr>Data Analysis – Dataset 1 </vt:lpstr>
      <vt:lpstr>Data Analysis – Dataset 2 </vt:lpstr>
      <vt:lpstr>Additional Analysis</vt:lpstr>
      <vt:lpstr>Data Analysis – Dataset 3 </vt:lpstr>
      <vt:lpstr>Data Analysis – Dataset A </vt:lpstr>
      <vt:lpstr>PowerPoint Presentation</vt:lpstr>
      <vt:lpstr>Data Analysis – FinalDataset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Dashboard</vt:lpstr>
      <vt:lpstr>PowerPoint Presentation</vt:lpstr>
      <vt:lpstr> Business Insights &amp; Recommendations 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Bike Sharing Data Analysis</dc:title>
  <dc:creator>Windows User</dc:creator>
  <cp:lastModifiedBy>Dhanashri Dixit</cp:lastModifiedBy>
  <cp:revision>48</cp:revision>
  <dcterms:created xsi:type="dcterms:W3CDTF">2026-07-26T00:42:07Z</dcterms:created>
  <dcterms:modified xsi:type="dcterms:W3CDTF">2026-10-08T11:08:18Z</dcterms:modified>
</cp:coreProperties>
</file>